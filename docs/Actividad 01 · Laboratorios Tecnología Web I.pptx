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 la Actividad 01: el laboratorio 1 (HTTP con curl y DevTools) y los laboratorios 2, 3 y 4 de Tecnología Web I, todos realizados sobre el mismo servidor srv-horizonte dentro de un contenedor 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pedido del docente todo se hizo en Docker. La red de la universidad bloqueaba los repositorios de Ubuntu, por eso la imagen se construyó con otra conexión. Regla de oro: docker compose stop, nunca down, para no perder el contenedor.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Laboratorio 1 no tiene verificador: son 7 comandos curl, 2 pruebas de cookies y la revisión en DevTools. Los laboratorios 2 a 4 quedaron con todas las comprobaciones en verde.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Parte A del Laboratorio 1: el diagrama cliente-servidor. También se vio que UPDS usa nginx con WordPress y PHP detrás, y que no envía cabeceras de seguridad como HSTS.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servidor servidor_eco.py del Laboratorio 1 es el mismo programa que en el Laboratorio 4 se convirtió en el servicio horizonte-eco detrás de Nginx.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Idempotente significa que se puede correr las veces que sea sin duplicar nada: usa getent || groupadd, grep -q || echo, [ -f ] ||. Así cualquier técnico reconstruye el servidor igual.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verificador se ejecutó como leonardo, no como root. El mismo script funcionó tanto en la VM como en 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Hosts virtuales: con una sola IP, Nginx elige el sitio por la cabecera Host. Un nombre desconocido cae en el default_server, que cierra la conexión con 444. Reto: la redirección 301 se hizo con un bloque server separado en lugar de un 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Windows se agregó al archivo hosts la línea 127.0.0.1 con los tres nombres, y los sitios se abren por :8080.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Primero se demostró la fuga: con la configuración a medias, /app/datos.php se descargaba como application/octet-stream con el hash de la contraseña y las notas. El verificador daba 3 de 16. Después se completaron los 10 TODO.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cookie HORIZONTESESSID solo guarda un identificador. El archivo sess_ en /var/lib/php/sessions guarda el usuario, el token CSRF y las visitas, con permisos 600 de www-data. Al cerrar sesión ese archivo se borra.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panel se abrió desde el navegador de la PC en portal.horizonte.internal:8080 con el usuario de prueba mamani.rosa. Los intentos fallidos quedan como "acceso fallido" en el error.log.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Casi todos los errores se resolvieron leyendo el mensaje: journalctl, nginx -t o el error.log de Nginx dicen exactamente qué falló.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código completo, las hojas de trabajo y las bitácoras de IA están en el repositorio del grupo en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11"/>
            <a:ext cx="10566400" cy="410978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11"/>
            <a:ext cx="10566400" cy="410978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F0A070"/>
                </a:solidFill>
                <a:latin typeface="JetBrains Mono" pitchFamily="49" charset="0"/>
                <a:ea typeface="JetBrains Mono" pitchFamily="49" charset="-122"/>
                <a:cs typeface="JetBrains Mono" pitchFamily="49" charset="-120"/>
              </a:rPr>
              <a:t>leonardo@srv-horizonte:~$</a:t>
            </a:r>
            <a:endParaRPr lang="en-US" sz="1400" dirty="0"/>
          </a:p>
        </p:txBody>
      </p:sp>
      <p:sp>
        <p:nvSpPr>
          <p:cNvPr id="3" name="Text 1"/>
          <p:cNvSpPr/>
          <p:nvPr>
            <p:ph type="title"/>
          </p:nvPr>
        </p:nvSpPr>
        <p:spPr>
          <a:xfrm>
            <a:off x="812800" y="199648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6F2"/>
                </a:solidFill>
                <a:latin typeface="IBM Plex Sans" pitchFamily="34" charset="0"/>
                <a:ea typeface="IBM Plex Sans" pitchFamily="34" charset="-122"/>
                <a:cs typeface="IBM Plex Sans" pitchFamily="34" charset="-120"/>
              </a:rPr>
              <a:t>Laboratorios de</a:t>
            </a:r>
            <a:endParaRPr lang="en-US" sz="6000" dirty="0"/>
          </a:p>
          <a:p>
            <a:pPr algn="l" indent="0" marL="0">
              <a:lnSpc>
                <a:spcPts val="6300"/>
              </a:lnSpc>
              <a:buNone/>
            </a:pPr>
            <a:r>
              <a:rPr lang="en-US" sz="6000" b="1" i="0" dirty="0">
                <a:solidFill>
                  <a:srgbClr val="F7F6F2"/>
                </a:solidFill>
                <a:latin typeface="IBM Plex Sans" pitchFamily="34" charset="0"/>
                <a:ea typeface="IBM Plex Sans" pitchFamily="34" charset="-122"/>
                <a:cs typeface="IBM Plex Sans" pitchFamily="34" charset="-120"/>
              </a:rPr>
              <a:t>Tecnología Web I</a:t>
            </a:r>
            <a:endParaRPr lang="en-US" sz="6000" dirty="0"/>
          </a:p>
        </p:txBody>
      </p:sp>
      <p:sp>
        <p:nvSpPr>
          <p:cNvPr id="4" name="Text 2"/>
          <p:cNvSpPr/>
          <p:nvPr/>
        </p:nvSpPr>
        <p:spPr>
          <a:xfrm>
            <a:off x="812800" y="3799880"/>
            <a:ext cx="10883392" cy="75178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3E3"/>
                </a:solidFill>
                <a:latin typeface="IBM Plex Sans" pitchFamily="34" charset="0"/>
                <a:ea typeface="IBM Plex Sans" pitchFamily="34" charset="-122"/>
                <a:cs typeface="IBM Plex Sans" pitchFamily="34" charset="-120"/>
              </a:rPr>
              <a:t>Actividad 01 · Laboratorios 1 a 4: HTTP, Ubuntu Server en Docker, Nginx, PHP-FPM y proxy inverso</a:t>
            </a:r>
            <a:endParaRPr lang="en-US" sz="2200" dirty="0"/>
          </a:p>
        </p:txBody>
      </p:sp>
      <p:sp>
        <p:nvSpPr>
          <p:cNvPr id="5" name="Text 3"/>
          <p:cNvSpPr/>
          <p:nvPr/>
        </p:nvSpPr>
        <p:spPr>
          <a:xfrm>
            <a:off x="812800" y="5461050"/>
            <a:ext cx="4470125"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7F6F2"/>
                </a:solidFill>
                <a:latin typeface="IBM Plex Sans" pitchFamily="34" charset="0"/>
                <a:ea typeface="IBM Plex Sans" pitchFamily="34" charset="-122"/>
                <a:cs typeface="IBM Plex Sans" pitchFamily="34" charset="-120"/>
              </a:rPr>
              <a:t>Leonardo Avila Bejarano · Grupo CodeX</a:t>
            </a:r>
            <a:endParaRPr lang="en-US" sz="1600" dirty="0"/>
          </a:p>
        </p:txBody>
      </p:sp>
      <p:sp>
        <p:nvSpPr>
          <p:cNvPr id="6" name="Text 4"/>
          <p:cNvSpPr/>
          <p:nvPr/>
        </p:nvSpPr>
        <p:spPr>
          <a:xfrm>
            <a:off x="812800" y="5796310"/>
            <a:ext cx="520791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3"/>
                </a:solidFill>
                <a:latin typeface="IBM Plex Sans" pitchFamily="34" charset="0"/>
                <a:ea typeface="IBM Plex Sans" pitchFamily="34" charset="-122"/>
                <a:cs typeface="IBM Plex Sans" pitchFamily="34" charset="-120"/>
              </a:rPr>
              <a:t>Docente: M.Sc. Ing. Jimmy Nataniel Requena Llorentty</a:t>
            </a:r>
            <a:endParaRPr lang="en-US" sz="1400" dirty="0"/>
          </a:p>
        </p:txBody>
      </p:sp>
      <p:sp>
        <p:nvSpPr>
          <p:cNvPr id="7" name="Text 5"/>
          <p:cNvSpPr/>
          <p:nvPr/>
        </p:nvSpPr>
        <p:spPr>
          <a:xfrm>
            <a:off x="9958437" y="5547420"/>
            <a:ext cx="1420763" cy="52318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C9D3E3"/>
                </a:solidFill>
                <a:latin typeface="IBM Plex Sans" pitchFamily="34" charset="0"/>
                <a:ea typeface="IBM Plex Sans" pitchFamily="34" charset="-122"/>
                <a:cs typeface="IBM Plex Sans" pitchFamily="34" charset="-120"/>
              </a:rPr>
              <a:t>UPDS · SIS-0150</a:t>
            </a:r>
            <a:endParaRPr lang="en-US" sz="1400" dirty="0"/>
          </a:p>
          <a:p>
            <a:pPr algn="r" indent="0" marL="0">
              <a:lnSpc>
                <a:spcPts val="1960"/>
              </a:lnSpc>
              <a:buNone/>
            </a:pPr>
            <a:r>
              <a:rPr lang="en-US" sz="1400" dirty="0">
                <a:solidFill>
                  <a:srgbClr val="C9D3E3"/>
                </a:solidFill>
                <a:latin typeface="IBM Plex Sans" pitchFamily="34" charset="0"/>
                <a:ea typeface="IBM Plex Sans" pitchFamily="34" charset="-122"/>
                <a:cs typeface="IBM Plex Sans" pitchFamily="34" charset="-120"/>
              </a:rPr>
              <a:t>Octubre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E1C"/>
                </a:solidFill>
                <a:latin typeface="IBM Plex Sans" pitchFamily="34" charset="0"/>
                <a:ea typeface="IBM Plex Sans" pitchFamily="34" charset="-122"/>
                <a:cs typeface="IBM Plex Sans" pitchFamily="34" charset="-120"/>
              </a:rPr>
              <a:t>EL ENTORNO</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Un servidor completo dentro de Docker</a:t>
            </a:r>
            <a:endParaRPr lang="en-US" sz="3600" dirty="0"/>
          </a:p>
        </p:txBody>
      </p:sp>
      <p:sp>
        <p:nvSpPr>
          <p:cNvPr id="4" name="Shape 2"/>
          <p:cNvSpPr/>
          <p:nvPr/>
        </p:nvSpPr>
        <p:spPr>
          <a:xfrm>
            <a:off x="819150" y="1992561"/>
            <a:ext cx="3898900" cy="1266081"/>
          </a:xfrm>
          <a:prstGeom prst="roundRect">
            <a:avLst>
              <a:gd name="adj" fmla="val 7523"/>
            </a:avLst>
          </a:prstGeom>
          <a:solidFill>
            <a:srgbClr val="FFFFFF"/>
          </a:solidFill>
          <a:ln w="12700">
            <a:solidFill>
              <a:srgbClr val="D5D9E0"/>
            </a:solidFill>
            <a:prstDash val="solid"/>
          </a:ln>
        </p:spPr>
      </p:sp>
      <p:sp>
        <p:nvSpPr>
          <p:cNvPr id="5" name="Text 3"/>
          <p:cNvSpPr/>
          <p:nvPr/>
        </p:nvSpPr>
        <p:spPr>
          <a:xfrm>
            <a:off x="1054100" y="2227511"/>
            <a:ext cx="353187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PC Windows</a:t>
            </a:r>
            <a:endParaRPr lang="en-US" sz="1800" dirty="0"/>
          </a:p>
        </p:txBody>
      </p:sp>
      <p:sp>
        <p:nvSpPr>
          <p:cNvPr id="6" name="Text 4"/>
          <p:cNvSpPr/>
          <p:nvPr/>
        </p:nvSpPr>
        <p:spPr>
          <a:xfrm>
            <a:off x="1054100" y="2578001"/>
            <a:ext cx="353187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IBM Plex Sans" pitchFamily="34" charset="0"/>
                <a:ea typeface="IBM Plex Sans" pitchFamily="34" charset="-122"/>
                <a:cs typeface="IBM Plex Sans" pitchFamily="34" charset="-120"/>
              </a:rPr>
              <a:t>Docker Desktop (WSL2), navegador y archivo </a:t>
            </a:r>
            <a:r>
              <a:rPr lang="en-US" sz="1300" dirty="0">
                <a:solidFill>
                  <a:srgbClr val="14213D"/>
                </a:solidFill>
                <a:latin typeface="IBM Plex Sans" pitchFamily="34" charset="0"/>
                <a:ea typeface="IBM Plex Sans" pitchFamily="34" charset="-122"/>
                <a:cs typeface="IBM Plex Sans" pitchFamily="34" charset="-120"/>
              </a:rPr>
              <a:t>hosts</a:t>
            </a:r>
            <a:endParaRPr lang="en-US" sz="1300" dirty="0"/>
          </a:p>
        </p:txBody>
      </p:sp>
      <p:pic>
        <p:nvPicPr>
          <p:cNvPr id="7" name="Image 0" descr="arrow-right">    </p:cNvPr>
          <p:cNvPicPr>
            <a:picLocks noChangeAspect="1"/>
          </p:cNvPicPr>
          <p:nvPr/>
        </p:nvPicPr>
        <p:blipFill>
          <a:blip r:embed="rId1"/>
          <a:srcRect l="0" r="0" t="0" b="0"/>
          <a:stretch/>
        </p:blipFill>
        <p:spPr>
          <a:xfrm>
            <a:off x="4876800" y="2523976"/>
            <a:ext cx="406400" cy="203200"/>
          </a:xfrm>
          <a:prstGeom prst="rect">
            <a:avLst/>
          </a:prstGeom>
        </p:spPr>
      </p:pic>
      <p:sp>
        <p:nvSpPr>
          <p:cNvPr id="8" name="Shape 5"/>
          <p:cNvSpPr/>
          <p:nvPr/>
        </p:nvSpPr>
        <p:spPr>
          <a:xfrm>
            <a:off x="5435600" y="2110333"/>
            <a:ext cx="5943600" cy="1030536"/>
          </a:xfrm>
          <a:prstGeom prst="roundRect">
            <a:avLst>
              <a:gd name="adj" fmla="val 9859"/>
            </a:avLst>
          </a:prstGeom>
          <a:solidFill>
            <a:srgbClr val="14213D"/>
          </a:solidFill>
          <a:ln/>
        </p:spPr>
      </p:sp>
      <p:sp>
        <p:nvSpPr>
          <p:cNvPr id="9" name="Text 6"/>
          <p:cNvSpPr/>
          <p:nvPr/>
        </p:nvSpPr>
        <p:spPr>
          <a:xfrm>
            <a:off x="5664200" y="2338933"/>
            <a:ext cx="565099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F6F2"/>
                </a:solidFill>
                <a:latin typeface="IBM Plex Sans" pitchFamily="34" charset="0"/>
                <a:ea typeface="IBM Plex Sans" pitchFamily="34" charset="-122"/>
                <a:cs typeface="IBM Plex Sans" pitchFamily="34" charset="-120"/>
              </a:rPr>
              <a:t>Contenedor srv-horizonte</a:t>
            </a:r>
            <a:endParaRPr lang="en-US" sz="1800" dirty="0"/>
          </a:p>
        </p:txBody>
      </p:sp>
      <p:sp>
        <p:nvSpPr>
          <p:cNvPr id="10" name="Text 7"/>
          <p:cNvSpPr/>
          <p:nvPr/>
        </p:nvSpPr>
        <p:spPr>
          <a:xfrm>
            <a:off x="5664200" y="2689423"/>
            <a:ext cx="5650992"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D3E3"/>
                </a:solidFill>
                <a:latin typeface="IBM Plex Sans" pitchFamily="34" charset="0"/>
                <a:ea typeface="IBM Plex Sans" pitchFamily="34" charset="-122"/>
                <a:cs typeface="IBM Plex Sans" pitchFamily="34" charset="-120"/>
              </a:rPr>
              <a:t>Ubuntu Server 24.04 con systemd, usuario </a:t>
            </a:r>
            <a:r>
              <a:rPr lang="en-US" sz="1300" dirty="0">
                <a:solidFill>
                  <a:srgbClr val="F0A070"/>
                </a:solidFill>
                <a:latin typeface="IBM Plex Sans" pitchFamily="34" charset="0"/>
                <a:ea typeface="IBM Plex Sans" pitchFamily="34" charset="-122"/>
                <a:cs typeface="IBM Plex Sans" pitchFamily="34" charset="-120"/>
              </a:rPr>
              <a:t>leonardo</a:t>
            </a:r>
            <a:r>
              <a:rPr lang="en-US" sz="1300" dirty="0">
                <a:solidFill>
                  <a:srgbClr val="C9D3E3"/>
                </a:solidFill>
                <a:latin typeface="IBM Plex Sans" pitchFamily="34" charset="0"/>
                <a:ea typeface="IBM Plex Sans" pitchFamily="34" charset="-122"/>
                <a:cs typeface="IBM Plex Sans" pitchFamily="34" charset="-120"/>
              </a:rPr>
              <a:t> (sudo, webadmin)</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25500" y="3633291"/>
          <a:ext cx="10553700" cy="1544042"/>
        </p:xfrm>
        <a:graphic>
          <a:graphicData uri="http://schemas.openxmlformats.org/drawingml/2006/table">
            <a:tbl>
              <a:tblPr/>
              <a:tblGrid>
                <a:gridCol w="3166110"/>
                <a:gridCol w="3166110"/>
                <a:gridCol w="4221480"/>
              </a:tblGrid>
              <a:tr h="386011">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Puerto en la PC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Puerto en el contenedor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Uso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8080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80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HTTP (Nginx)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2222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22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SSH</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8443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443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HTTPS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0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E1C"/>
                </a:solidFill>
                <a:latin typeface="IBM Plex Sans" pitchFamily="34" charset="0"/>
                <a:ea typeface="IBM Plex Sans" pitchFamily="34" charset="-122"/>
                <a:cs typeface="IBM Plex Sans" pitchFamily="34" charset="-120"/>
              </a:rPr>
              <a:t>RESULTADOS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Cuatro laboratorios, una sola Actividad 01</a:t>
            </a:r>
            <a:endParaRPr lang="en-US" sz="3600" dirty="0"/>
          </a:p>
        </p:txBody>
      </p:sp>
      <p:sp>
        <p:nvSpPr>
          <p:cNvPr id="4" name="Shape 2"/>
          <p:cNvSpPr/>
          <p:nvPr/>
        </p:nvSpPr>
        <p:spPr>
          <a:xfrm>
            <a:off x="812800" y="2037011"/>
            <a:ext cx="2508250" cy="4008189"/>
          </a:xfrm>
          <a:prstGeom prst="roundRect">
            <a:avLst>
              <a:gd name="adj" fmla="val 4051"/>
            </a:avLst>
          </a:prstGeom>
          <a:solidFill>
            <a:srgbClr val="FFFFFF"/>
          </a:solidFill>
          <a:ln/>
        </p:spPr>
      </p:sp>
      <p:sp>
        <p:nvSpPr>
          <p:cNvPr id="5" name="Text 3"/>
          <p:cNvSpPr/>
          <p:nvPr/>
        </p:nvSpPr>
        <p:spPr>
          <a:xfrm>
            <a:off x="1066800" y="2291011"/>
            <a:ext cx="206025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FB0"/>
                </a:solidFill>
                <a:latin typeface="JetBrains Mono" pitchFamily="49" charset="0"/>
                <a:ea typeface="JetBrains Mono" pitchFamily="49" charset="-122"/>
                <a:cs typeface="JetBrains Mono" pitchFamily="49" charset="-120"/>
              </a:rPr>
              <a:t>LAB 01</a:t>
            </a:r>
            <a:endParaRPr lang="en-US" sz="1400" dirty="0"/>
          </a:p>
        </p:txBody>
      </p:sp>
      <p:sp>
        <p:nvSpPr>
          <p:cNvPr id="6" name="Text 4"/>
          <p:cNvSpPr/>
          <p:nvPr/>
        </p:nvSpPr>
        <p:spPr>
          <a:xfrm>
            <a:off x="1066800" y="2641501"/>
            <a:ext cx="2060257"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4213D"/>
                </a:solidFill>
                <a:latin typeface="IBM Plex Sans" pitchFamily="34" charset="0"/>
                <a:ea typeface="IBM Plex Sans" pitchFamily="34" charset="-122"/>
                <a:cs typeface="IBM Plex Sans" pitchFamily="34" charset="-120"/>
              </a:rPr>
              <a:t>7 + 3</a:t>
            </a:r>
            <a:endParaRPr lang="en-US" sz="4800" dirty="0"/>
          </a:p>
        </p:txBody>
      </p:sp>
      <p:sp>
        <p:nvSpPr>
          <p:cNvPr id="7" name="Text 5"/>
          <p:cNvSpPr/>
          <p:nvPr/>
        </p:nvSpPr>
        <p:spPr>
          <a:xfrm>
            <a:off x="1066800" y="3352701"/>
            <a:ext cx="2060257"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Pruebas con curl y DevTools: códigos, cabeceras y cookies</a:t>
            </a:r>
            <a:endParaRPr lang="en-US" sz="1400" dirty="0"/>
          </a:p>
        </p:txBody>
      </p:sp>
      <p:sp>
        <p:nvSpPr>
          <p:cNvPr id="8" name="Shape 6"/>
          <p:cNvSpPr/>
          <p:nvPr/>
        </p:nvSpPr>
        <p:spPr>
          <a:xfrm>
            <a:off x="3498850" y="2037011"/>
            <a:ext cx="2508250" cy="4008189"/>
          </a:xfrm>
          <a:prstGeom prst="roundRect">
            <a:avLst>
              <a:gd name="adj" fmla="val 4051"/>
            </a:avLst>
          </a:prstGeom>
          <a:solidFill>
            <a:srgbClr val="FFFFFF"/>
          </a:solidFill>
          <a:ln/>
        </p:spPr>
      </p:sp>
      <p:sp>
        <p:nvSpPr>
          <p:cNvPr id="9" name="Text 7"/>
          <p:cNvSpPr/>
          <p:nvPr/>
        </p:nvSpPr>
        <p:spPr>
          <a:xfrm>
            <a:off x="3752850" y="2291011"/>
            <a:ext cx="206025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FB0"/>
                </a:solidFill>
                <a:latin typeface="JetBrains Mono" pitchFamily="49" charset="0"/>
                <a:ea typeface="JetBrains Mono" pitchFamily="49" charset="-122"/>
                <a:cs typeface="JetBrains Mono" pitchFamily="49" charset="-120"/>
              </a:rPr>
              <a:t>LAB 02</a:t>
            </a:r>
            <a:endParaRPr lang="en-US" sz="1400" dirty="0"/>
          </a:p>
        </p:txBody>
      </p:sp>
      <p:sp>
        <p:nvSpPr>
          <p:cNvPr id="10" name="Text 8"/>
          <p:cNvSpPr/>
          <p:nvPr/>
        </p:nvSpPr>
        <p:spPr>
          <a:xfrm>
            <a:off x="3752850" y="2641501"/>
            <a:ext cx="2060257"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4213D"/>
                </a:solidFill>
                <a:latin typeface="IBM Plex Sans" pitchFamily="34" charset="0"/>
                <a:ea typeface="IBM Plex Sans" pitchFamily="34" charset="-122"/>
                <a:cs typeface="IBM Plex Sans" pitchFamily="34" charset="-120"/>
              </a:rPr>
              <a:t>14/14</a:t>
            </a:r>
            <a:endParaRPr lang="en-US" sz="4800" dirty="0"/>
          </a:p>
        </p:txBody>
      </p:sp>
      <p:sp>
        <p:nvSpPr>
          <p:cNvPr id="11" name="Text 9"/>
          <p:cNvSpPr/>
          <p:nvPr/>
        </p:nvSpPr>
        <p:spPr>
          <a:xfrm>
            <a:off x="3752850" y="3352701"/>
            <a:ext cx="2060257"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Administración de Ubuntu Server</a:t>
            </a:r>
            <a:endParaRPr lang="en-US" sz="1400" dirty="0"/>
          </a:p>
        </p:txBody>
      </p:sp>
      <p:sp>
        <p:nvSpPr>
          <p:cNvPr id="12" name="Shape 10"/>
          <p:cNvSpPr/>
          <p:nvPr/>
        </p:nvSpPr>
        <p:spPr>
          <a:xfrm>
            <a:off x="6184900" y="2037011"/>
            <a:ext cx="2508250" cy="4008189"/>
          </a:xfrm>
          <a:prstGeom prst="roundRect">
            <a:avLst>
              <a:gd name="adj" fmla="val 4051"/>
            </a:avLst>
          </a:prstGeom>
          <a:solidFill>
            <a:srgbClr val="FFFFFF"/>
          </a:solidFill>
          <a:ln/>
        </p:spPr>
      </p:sp>
      <p:sp>
        <p:nvSpPr>
          <p:cNvPr id="13" name="Text 11"/>
          <p:cNvSpPr/>
          <p:nvPr/>
        </p:nvSpPr>
        <p:spPr>
          <a:xfrm>
            <a:off x="6438900" y="2291011"/>
            <a:ext cx="206025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FB0"/>
                </a:solidFill>
                <a:latin typeface="JetBrains Mono" pitchFamily="49" charset="0"/>
                <a:ea typeface="JetBrains Mono" pitchFamily="49" charset="-122"/>
                <a:cs typeface="JetBrains Mono" pitchFamily="49" charset="-120"/>
              </a:rPr>
              <a:t>LAB 03</a:t>
            </a:r>
            <a:endParaRPr lang="en-US" sz="1400" dirty="0"/>
          </a:p>
        </p:txBody>
      </p:sp>
      <p:sp>
        <p:nvSpPr>
          <p:cNvPr id="14" name="Text 12"/>
          <p:cNvSpPr/>
          <p:nvPr/>
        </p:nvSpPr>
        <p:spPr>
          <a:xfrm>
            <a:off x="6438900" y="2641501"/>
            <a:ext cx="2060257"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4213D"/>
                </a:solidFill>
                <a:latin typeface="IBM Plex Sans" pitchFamily="34" charset="0"/>
                <a:ea typeface="IBM Plex Sans" pitchFamily="34" charset="-122"/>
                <a:cs typeface="IBM Plex Sans" pitchFamily="34" charset="-120"/>
              </a:rPr>
              <a:t>14/14</a:t>
            </a:r>
            <a:endParaRPr lang="en-US" sz="4800" dirty="0"/>
          </a:p>
        </p:txBody>
      </p:sp>
      <p:sp>
        <p:nvSpPr>
          <p:cNvPr id="15" name="Text 13"/>
          <p:cNvSpPr/>
          <p:nvPr/>
        </p:nvSpPr>
        <p:spPr>
          <a:xfrm>
            <a:off x="6438900" y="3352701"/>
            <a:ext cx="225425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Nginx con hosts virtuales</a:t>
            </a:r>
            <a:endParaRPr lang="en-US" sz="1400" dirty="0"/>
          </a:p>
        </p:txBody>
      </p:sp>
      <p:sp>
        <p:nvSpPr>
          <p:cNvPr id="16" name="Shape 14"/>
          <p:cNvSpPr/>
          <p:nvPr/>
        </p:nvSpPr>
        <p:spPr>
          <a:xfrm>
            <a:off x="8870950" y="2037011"/>
            <a:ext cx="2508250" cy="4008189"/>
          </a:xfrm>
          <a:prstGeom prst="roundRect">
            <a:avLst>
              <a:gd name="adj" fmla="val 4051"/>
            </a:avLst>
          </a:prstGeom>
          <a:solidFill>
            <a:srgbClr val="14213D"/>
          </a:solidFill>
          <a:ln/>
        </p:spPr>
      </p:sp>
      <p:sp>
        <p:nvSpPr>
          <p:cNvPr id="17" name="Text 15"/>
          <p:cNvSpPr/>
          <p:nvPr/>
        </p:nvSpPr>
        <p:spPr>
          <a:xfrm>
            <a:off x="9124950" y="2291011"/>
            <a:ext cx="206025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0A070"/>
                </a:solidFill>
                <a:latin typeface="JetBrains Mono" pitchFamily="49" charset="0"/>
                <a:ea typeface="JetBrains Mono" pitchFamily="49" charset="-122"/>
                <a:cs typeface="JetBrains Mono" pitchFamily="49" charset="-120"/>
              </a:rPr>
              <a:t>LAB 04</a:t>
            </a:r>
            <a:endParaRPr lang="en-US" sz="1400" dirty="0"/>
          </a:p>
        </p:txBody>
      </p:sp>
      <p:sp>
        <p:nvSpPr>
          <p:cNvPr id="18" name="Text 16"/>
          <p:cNvSpPr/>
          <p:nvPr/>
        </p:nvSpPr>
        <p:spPr>
          <a:xfrm>
            <a:off x="9124950" y="2641501"/>
            <a:ext cx="2060257"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7F6F2"/>
                </a:solidFill>
                <a:latin typeface="IBM Plex Sans" pitchFamily="34" charset="0"/>
                <a:ea typeface="IBM Plex Sans" pitchFamily="34" charset="-122"/>
                <a:cs typeface="IBM Plex Sans" pitchFamily="34" charset="-120"/>
              </a:rPr>
              <a:t>16/16</a:t>
            </a:r>
            <a:endParaRPr lang="en-US" sz="4800" dirty="0"/>
          </a:p>
        </p:txBody>
      </p:sp>
      <p:sp>
        <p:nvSpPr>
          <p:cNvPr id="19" name="Text 17"/>
          <p:cNvSpPr/>
          <p:nvPr/>
        </p:nvSpPr>
        <p:spPr>
          <a:xfrm>
            <a:off x="9124950" y="3352701"/>
            <a:ext cx="2060257"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C9D3E3"/>
                </a:solidFill>
                <a:latin typeface="IBM Plex Sans" pitchFamily="34" charset="0"/>
                <a:ea typeface="IBM Plex Sans" pitchFamily="34" charset="-122"/>
                <a:cs typeface="IBM Plex Sans" pitchFamily="34" charset="-120"/>
              </a:rPr>
              <a:t>PHP-FPM, proxy inverso y sesiones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1676152"/>
            <a:ext cx="544169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E1C"/>
                </a:solidFill>
                <a:latin typeface="IBM Plex Sans" pitchFamily="34" charset="0"/>
                <a:ea typeface="IBM Plex Sans" pitchFamily="34" charset="-122"/>
                <a:cs typeface="IBM Plex Sans" pitchFamily="34" charset="-120"/>
              </a:rPr>
              <a:t>LABORATORIO 1</a:t>
            </a:r>
            <a:endParaRPr lang="en-US" sz="1200" dirty="0"/>
          </a:p>
        </p:txBody>
      </p:sp>
      <p:sp>
        <p:nvSpPr>
          <p:cNvPr id="3" name="Text 1"/>
          <p:cNvSpPr/>
          <p:nvPr>
            <p:ph type="title"/>
          </p:nvPr>
        </p:nvSpPr>
        <p:spPr>
          <a:xfrm>
            <a:off x="812800" y="1991072"/>
            <a:ext cx="5441696" cy="103118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El viaje de una petición HTTP</a:t>
            </a:r>
            <a:endParaRPr lang="en-US" sz="3600" dirty="0"/>
          </a:p>
        </p:txBody>
      </p:sp>
      <p:sp>
        <p:nvSpPr>
          <p:cNvPr id="4" name="Text 2"/>
          <p:cNvSpPr/>
          <p:nvPr/>
        </p:nvSpPr>
        <p:spPr>
          <a:xfrm>
            <a:off x="812800" y="3225453"/>
            <a:ext cx="5441696"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Abrir upds.edu.bo no es una sola petición: DNS, conexión TCP y TLS, dos redirecciones 301 y luego el HTML con sus recursos.</a:t>
            </a:r>
            <a:endParaRPr lang="en-US" sz="1500" dirty="0"/>
          </a:p>
        </p:txBody>
      </p:sp>
      <p:sp>
        <p:nvSpPr>
          <p:cNvPr id="5" name="Text 3"/>
          <p:cNvSpPr/>
          <p:nvPr/>
        </p:nvSpPr>
        <p:spPr>
          <a:xfrm>
            <a:off x="812800" y="4282728"/>
            <a:ext cx="5441696"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IP:</a:t>
            </a:r>
            <a:r>
              <a:rPr lang="en-US" sz="1400" dirty="0">
                <a:solidFill>
                  <a:srgbClr val="14213D"/>
                </a:solidFill>
                <a:latin typeface="IBM Plex Sans" pitchFamily="34" charset="0"/>
                <a:ea typeface="IBM Plex Sans" pitchFamily="34" charset="-122"/>
                <a:cs typeface="IBM Plex Sans" pitchFamily="34" charset="-120"/>
              </a:rPr>
              <a:t> el DNS traduce el nombre a 35.212.117.103</a:t>
            </a:r>
            <a:endParaRPr lang="en-US" sz="1400" dirty="0"/>
          </a:p>
        </p:txBody>
      </p:sp>
      <p:sp>
        <p:nvSpPr>
          <p:cNvPr id="6" name="Text 4"/>
          <p:cNvSpPr/>
          <p:nvPr/>
        </p:nvSpPr>
        <p:spPr>
          <a:xfrm>
            <a:off x="812800" y="4607818"/>
            <a:ext cx="5441696"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Puertos:</a:t>
            </a:r>
            <a:r>
              <a:rPr lang="en-US" sz="1400" dirty="0">
                <a:solidFill>
                  <a:srgbClr val="14213D"/>
                </a:solidFill>
                <a:latin typeface="IBM Plex Sans" pitchFamily="34" charset="0"/>
                <a:ea typeface="IBM Plex Sans" pitchFamily="34" charset="-122"/>
                <a:cs typeface="IBM Plex Sans" pitchFamily="34" charset="-120"/>
              </a:rPr>
              <a:t> :80 para HTTP y :443 para HTTPS</a:t>
            </a:r>
            <a:endParaRPr lang="en-US" sz="1400" dirty="0"/>
          </a:p>
        </p:txBody>
      </p:sp>
      <p:sp>
        <p:nvSpPr>
          <p:cNvPr id="7" name="Text 5"/>
          <p:cNvSpPr/>
          <p:nvPr/>
        </p:nvSpPr>
        <p:spPr>
          <a:xfrm>
            <a:off x="812800" y="4932908"/>
            <a:ext cx="5441696"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TLS:</a:t>
            </a:r>
            <a:r>
              <a:rPr lang="en-US" sz="1400" dirty="0">
                <a:solidFill>
                  <a:srgbClr val="14213D"/>
                </a:solidFill>
                <a:latin typeface="IBM Plex Sans" pitchFamily="34" charset="0"/>
                <a:ea typeface="IBM Plex Sans" pitchFamily="34" charset="-122"/>
                <a:cs typeface="IBM Plex Sans" pitchFamily="34" charset="-120"/>
              </a:rPr>
              <a:t> certificado y cifrado antes del primer GET</a:t>
            </a:r>
            <a:endParaRPr lang="en-US" sz="1400" dirty="0"/>
          </a:p>
        </p:txBody>
      </p:sp>
      <p:sp>
        <p:nvSpPr>
          <p:cNvPr id="8" name="Shape 6"/>
          <p:cNvSpPr/>
          <p:nvPr/>
        </p:nvSpPr>
        <p:spPr>
          <a:xfrm>
            <a:off x="6553200" y="977900"/>
            <a:ext cx="4826000" cy="4902200"/>
          </a:xfrm>
          <a:prstGeom prst="roundRect">
            <a:avLst>
              <a:gd name="adj" fmla="val 2105"/>
            </a:avLst>
          </a:prstGeom>
          <a:solidFill>
            <a:srgbClr val="FFFFFF"/>
          </a:solidFill>
          <a:ln/>
        </p:spPr>
      </p:sp>
      <p:pic>
        <p:nvPicPr>
          <p:cNvPr id="9" name="Image 0" descr="Diagrama de secuencia de una visita a upds.edu.bo: DNS, redirecciones 301, TLS, 200 OK y recursos">    </p:cNvPr>
          <p:cNvPicPr>
            <a:picLocks noChangeAspect="1"/>
          </p:cNvPicPr>
          <p:nvPr/>
        </p:nvPicPr>
        <p:blipFill>
          <a:blip r:embed="rId1"/>
          <a:srcRect l="0" r="0" t="-24" b="-24"/>
          <a:stretch/>
        </p:blipFill>
        <p:spPr>
          <a:xfrm>
            <a:off x="6565900" y="990600"/>
            <a:ext cx="4800600" cy="4876800"/>
          </a:xfrm>
          <a:prstGeom prst="roundRect">
            <a:avLst>
              <a:gd name="adj" fmla="val 1852"/>
            </a:avLst>
          </a:prstGeom>
        </p:spPr>
      </p:pic>
      <p:sp>
        <p:nvSpPr>
          <p:cNvPr id="10" name="Shape 7"/>
          <p:cNvSpPr/>
          <p:nvPr/>
        </p:nvSpPr>
        <p:spPr>
          <a:xfrm>
            <a:off x="6559550" y="984250"/>
            <a:ext cx="4813300" cy="4889500"/>
          </a:xfrm>
          <a:prstGeom prst="roundRect">
            <a:avLst>
              <a:gd name="adj" fmla="val 1979"/>
            </a:avLst>
          </a:prstGeom>
          <a:noFill/>
          <a:ln w="12700">
            <a:solidFill>
              <a:srgbClr val="D5D9E0"/>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0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E1C"/>
                </a:solidFill>
                <a:latin typeface="IBM Plex Sans" pitchFamily="34" charset="0"/>
                <a:ea typeface="IBM Plex Sans" pitchFamily="34" charset="-122"/>
                <a:cs typeface="IBM Plex Sans" pitchFamily="34" charset="-120"/>
              </a:rPr>
              <a:t>LABORATORIO 1 · SERVIDOR DE PRÁCTICA</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curl muestra lo que el navegador oculta</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41450"/>
          <a:ext cx="4813300" cy="2515245"/>
        </p:xfrm>
        <a:graphic>
          <a:graphicData uri="http://schemas.openxmlformats.org/drawingml/2006/table">
            <a:tbl>
              <a:tblPr/>
              <a:tblGrid>
                <a:gridCol w="2021586"/>
                <a:gridCol w="1347724"/>
                <a:gridCol w="1443990"/>
              </a:tblGrid>
              <a:tr h="359321">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Ruta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BB"/>
                      </a:solidFill>
                      <a:prstDash val="solid"/>
                      <a:round/>
                      <a:headEnd type="none" w="med" len="med"/>
                      <a:tailEnd type="none" w="med" len="med"/>
                    </a:lnL>
                    <a:lnR w="12700" cap="flat" cmpd="sng" algn="ctr">
                      <a:solidFill>
                        <a:srgbClr val="B1B2AD"/>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1B2AD"/>
                      </a:solidFill>
                      <a:prstDash val="solid"/>
                      <a:round/>
                      <a:headEnd type="none" w="med" len="med"/>
                      <a:tailEnd type="none" w="med" len="med"/>
                    </a:lnB>
                    <a:solidFill>
                      <a:srgbClr val="DDDED9"/>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Código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1B2AD"/>
                      </a:solidFill>
                      <a:prstDash val="solid"/>
                      <a:round/>
                      <a:headEnd type="none" w="med" len="med"/>
                      <a:tailEnd type="none" w="med" len="med"/>
                    </a:lnL>
                    <a:lnR w="12700" cap="flat" cmpd="sng" algn="ctr">
                      <a:solidFill>
                        <a:srgbClr val="B1B2AD"/>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1B2AD"/>
                      </a:solidFill>
                      <a:prstDash val="solid"/>
                      <a:round/>
                      <a:headEnd type="none" w="med" len="med"/>
                      <a:tailEnd type="none" w="med" len="med"/>
                    </a:lnB>
                    <a:solidFill>
                      <a:srgbClr val="DDDED9"/>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Familia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1B2AD"/>
                      </a:solidFill>
                      <a:prstDash val="solid"/>
                      <a:round/>
                      <a:headEnd type="none" w="med" len="med"/>
                      <a:tailEnd type="none" w="med" len="med"/>
                    </a:lnL>
                    <a:lnR w="12700" cap="flat" cmpd="sng" algn="ctr">
                      <a:solidFill>
                        <a:srgbClr val="B1B2AD"/>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1B2AD"/>
                      </a:solidFill>
                      <a:prstDash val="solid"/>
                      <a:round/>
                      <a:headEnd type="none" w="med" len="med"/>
                      <a:tailEnd type="none" w="med" len="med"/>
                    </a:lnB>
                    <a:solidFill>
                      <a:srgbClr val="DDDED9"/>
                    </a:solidFill>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GET /eco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1B2AD"/>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200 OK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1B2AD"/>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2xx éxito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1B2AD"/>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POST /eco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201 Created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2xx éxito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/antiguo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301 → 200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3xx redirección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/privado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403 Forbidden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4xx cliente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/noexiste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404 Not Found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4xx cliente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/lento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200 en 2,01 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2xx éxito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r>
            </a:tbl>
          </a:graphicData>
        </a:graphic>
      </p:graphicFrame>
      <p:sp>
        <p:nvSpPr>
          <p:cNvPr id="5" name="Shape 2"/>
          <p:cNvSpPr/>
          <p:nvPr/>
        </p:nvSpPr>
        <p:spPr>
          <a:xfrm>
            <a:off x="5943600" y="1828750"/>
            <a:ext cx="5435600" cy="1479550"/>
          </a:xfrm>
          <a:prstGeom prst="roundRect">
            <a:avLst>
              <a:gd name="adj" fmla="val 6867"/>
            </a:avLst>
          </a:prstGeom>
          <a:solidFill>
            <a:srgbClr val="0C0C0C"/>
          </a:solidFill>
          <a:ln/>
        </p:spPr>
      </p:sp>
      <p:pic>
        <p:nvPicPr>
          <p:cNvPr id="6" name="Image 0" descr="curl con -c y -b recibe Set-Cookie visitas=1 con HttpOnly, SameSite=Lax y Max-Age=3600">    </p:cNvPr>
          <p:cNvPicPr>
            <a:picLocks noChangeAspect="1"/>
          </p:cNvPicPr>
          <p:nvPr/>
        </p:nvPicPr>
        <p:blipFill>
          <a:blip r:embed="rId1"/>
          <a:srcRect l="0" r="0" t="-60" b="-60"/>
          <a:stretch/>
        </p:blipFill>
        <p:spPr>
          <a:xfrm>
            <a:off x="5943600" y="1828750"/>
            <a:ext cx="5435600" cy="1479550"/>
          </a:xfrm>
          <a:prstGeom prst="roundRect">
            <a:avLst>
              <a:gd name="adj" fmla="val 6867"/>
            </a:avLst>
          </a:prstGeom>
        </p:spPr>
      </p:pic>
      <p:sp>
        <p:nvSpPr>
          <p:cNvPr id="7" name="Text 3"/>
          <p:cNvSpPr/>
          <p:nvPr/>
        </p:nvSpPr>
        <p:spPr>
          <a:xfrm>
            <a:off x="5943600" y="3435300"/>
            <a:ext cx="559866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Con -c y -b la cookie </a:t>
            </a:r>
            <a:r>
              <a:rPr lang="en-US" sz="1400" dirty="0">
                <a:solidFill>
                  <a:srgbClr val="14213D"/>
                </a:solidFill>
                <a:latin typeface="IBM Plex Sans" pitchFamily="34" charset="0"/>
                <a:ea typeface="IBM Plex Sans" pitchFamily="34" charset="-122"/>
                <a:cs typeface="IBM Plex Sans" pitchFamily="34" charset="-120"/>
              </a:rPr>
              <a:t>visitas</a:t>
            </a:r>
            <a:r>
              <a:rPr lang="en-US" sz="1400" dirty="0">
                <a:solidFill>
                  <a:srgbClr val="4A5568"/>
                </a:solidFill>
                <a:latin typeface="IBM Plex Sans" pitchFamily="34" charset="0"/>
                <a:ea typeface="IBM Plex Sans" pitchFamily="34" charset="-122"/>
                <a:cs typeface="IBM Plex Sans" pitchFamily="34" charset="-120"/>
              </a:rPr>
              <a:t> pasó de 1 a 2: HTTP no recuerda nada, la cookie sí. HttpOnly, SameSite=Lax y Max-Age=3600.</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E1C"/>
                </a:solidFill>
                <a:latin typeface="IBM Plex Sans" pitchFamily="34" charset="0"/>
                <a:ea typeface="IBM Plex Sans" pitchFamily="34" charset="-122"/>
                <a:cs typeface="IBM Plex Sans" pitchFamily="34" charset="-120"/>
              </a:rPr>
              <a:t>LABORATORIO 2</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Preparar el servidor del colegio</a:t>
            </a:r>
            <a:endParaRPr lang="en-US" sz="3600" dirty="0"/>
          </a:p>
        </p:txBody>
      </p:sp>
      <p:sp>
        <p:nvSpPr>
          <p:cNvPr id="4" name="Shape 2"/>
          <p:cNvSpPr/>
          <p:nvPr/>
        </p:nvSpPr>
        <p:spPr>
          <a:xfrm>
            <a:off x="819150" y="1992561"/>
            <a:ext cx="5168900" cy="1368971"/>
          </a:xfrm>
          <a:prstGeom prst="roundRect">
            <a:avLst>
              <a:gd name="adj" fmla="val 6958"/>
            </a:avLst>
          </a:prstGeom>
          <a:solidFill>
            <a:srgbClr val="FFFFFF"/>
          </a:solidFill>
          <a:ln w="12700">
            <a:solidFill>
              <a:srgbClr val="D5D9E0"/>
            </a:solidFill>
            <a:prstDash val="solid"/>
          </a:ln>
        </p:spPr>
      </p:sp>
      <p:sp>
        <p:nvSpPr>
          <p:cNvPr id="5" name="Text 3"/>
          <p:cNvSpPr/>
          <p:nvPr/>
        </p:nvSpPr>
        <p:spPr>
          <a:xfrm>
            <a:off x="1079500" y="2252911"/>
            <a:ext cx="478764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Usuarios y grupos</a:t>
            </a:r>
            <a:endParaRPr lang="en-US" sz="1800" dirty="0"/>
          </a:p>
        </p:txBody>
      </p:sp>
      <p:sp>
        <p:nvSpPr>
          <p:cNvPr id="6" name="Text 4"/>
          <p:cNvSpPr/>
          <p:nvPr/>
        </p:nvSpPr>
        <p:spPr>
          <a:xfrm>
            <a:off x="1079500" y="2603401"/>
            <a:ext cx="478764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Usuario </a:t>
            </a:r>
            <a:r>
              <a:rPr lang="en-US" sz="1400" dirty="0">
                <a:solidFill>
                  <a:srgbClr val="14213D"/>
                </a:solidFill>
                <a:latin typeface="IBM Plex Sans" pitchFamily="34" charset="0"/>
                <a:ea typeface="IBM Plex Sans" pitchFamily="34" charset="-122"/>
                <a:cs typeface="IBM Plex Sans" pitchFamily="34" charset="-120"/>
              </a:rPr>
              <a:t>leonardo</a:t>
            </a:r>
            <a:r>
              <a:rPr lang="en-US" sz="1400" dirty="0">
                <a:solidFill>
                  <a:srgbClr val="4A5568"/>
                </a:solidFill>
                <a:latin typeface="IBM Plex Sans" pitchFamily="34" charset="0"/>
                <a:ea typeface="IBM Plex Sans" pitchFamily="34" charset="-122"/>
                <a:cs typeface="IBM Plex Sans" pitchFamily="34" charset="-120"/>
              </a:rPr>
              <a:t> en sudo y en el grupo </a:t>
            </a:r>
            <a:r>
              <a:rPr lang="en-US" sz="1400" dirty="0">
                <a:solidFill>
                  <a:srgbClr val="14213D"/>
                </a:solidFill>
                <a:latin typeface="IBM Plex Sans" pitchFamily="34" charset="0"/>
                <a:ea typeface="IBM Plex Sans" pitchFamily="34" charset="-122"/>
                <a:cs typeface="IBM Plex Sans" pitchFamily="34" charset="-120"/>
              </a:rPr>
              <a:t>webadmin</a:t>
            </a:r>
            <a:endParaRPr lang="en-US" sz="1400" dirty="0"/>
          </a:p>
        </p:txBody>
      </p:sp>
      <p:sp>
        <p:nvSpPr>
          <p:cNvPr id="7" name="Shape 5"/>
          <p:cNvSpPr/>
          <p:nvPr/>
        </p:nvSpPr>
        <p:spPr>
          <a:xfrm>
            <a:off x="6203950" y="1992561"/>
            <a:ext cx="5168900" cy="1368971"/>
          </a:xfrm>
          <a:prstGeom prst="roundRect">
            <a:avLst>
              <a:gd name="adj" fmla="val 6958"/>
            </a:avLst>
          </a:prstGeom>
          <a:solidFill>
            <a:srgbClr val="FFFFFF"/>
          </a:solidFill>
          <a:ln w="12700">
            <a:solidFill>
              <a:srgbClr val="D5D9E0"/>
            </a:solidFill>
            <a:prstDash val="solid"/>
          </a:ln>
        </p:spPr>
      </p:sp>
      <p:sp>
        <p:nvSpPr>
          <p:cNvPr id="8" name="Text 6"/>
          <p:cNvSpPr/>
          <p:nvPr/>
        </p:nvSpPr>
        <p:spPr>
          <a:xfrm>
            <a:off x="6464300" y="2252911"/>
            <a:ext cx="478764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Carpeta compartida</a:t>
            </a:r>
            <a:endParaRPr lang="en-US" sz="1800" dirty="0"/>
          </a:p>
        </p:txBody>
      </p:sp>
      <p:sp>
        <p:nvSpPr>
          <p:cNvPr id="9" name="Text 7"/>
          <p:cNvSpPr/>
          <p:nvPr/>
        </p:nvSpPr>
        <p:spPr>
          <a:xfrm>
            <a:off x="6464300" y="2603401"/>
            <a:ext cx="478764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/srv/horizonte/www con root:webadmin y 2775: el setgid hace que todo herede el grupo</a:t>
            </a:r>
            <a:endParaRPr lang="en-US" sz="1400" dirty="0"/>
          </a:p>
        </p:txBody>
      </p:sp>
      <p:sp>
        <p:nvSpPr>
          <p:cNvPr id="10" name="Shape 8"/>
          <p:cNvSpPr/>
          <p:nvPr/>
        </p:nvSpPr>
        <p:spPr>
          <a:xfrm>
            <a:off x="819150" y="3577431"/>
            <a:ext cx="5168900" cy="1368971"/>
          </a:xfrm>
          <a:prstGeom prst="roundRect">
            <a:avLst>
              <a:gd name="adj" fmla="val 6958"/>
            </a:avLst>
          </a:prstGeom>
          <a:solidFill>
            <a:srgbClr val="FFFFFF"/>
          </a:solidFill>
          <a:ln w="12700">
            <a:solidFill>
              <a:srgbClr val="D5D9E0"/>
            </a:solidFill>
            <a:prstDash val="solid"/>
          </a:ln>
        </p:spPr>
      </p:sp>
      <p:sp>
        <p:nvSpPr>
          <p:cNvPr id="11" name="Text 9"/>
          <p:cNvSpPr/>
          <p:nvPr/>
        </p:nvSpPr>
        <p:spPr>
          <a:xfrm>
            <a:off x="1079500" y="3837781"/>
            <a:ext cx="478764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Servicios</a:t>
            </a:r>
            <a:endParaRPr lang="en-US" sz="1800" dirty="0"/>
          </a:p>
        </p:txBody>
      </p:sp>
      <p:sp>
        <p:nvSpPr>
          <p:cNvPr id="12" name="Text 10"/>
          <p:cNvSpPr/>
          <p:nvPr/>
        </p:nvSpPr>
        <p:spPr>
          <a:xfrm>
            <a:off x="1079500" y="4188271"/>
            <a:ext cx="478764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SSH habilitado con systemctl enable --now; acceso desde la PC por el puerto 2222</a:t>
            </a:r>
            <a:endParaRPr lang="en-US" sz="1400" dirty="0"/>
          </a:p>
        </p:txBody>
      </p:sp>
      <p:sp>
        <p:nvSpPr>
          <p:cNvPr id="13" name="Shape 11"/>
          <p:cNvSpPr/>
          <p:nvPr/>
        </p:nvSpPr>
        <p:spPr>
          <a:xfrm>
            <a:off x="6197600" y="3571081"/>
            <a:ext cx="5181600" cy="1381671"/>
          </a:xfrm>
          <a:prstGeom prst="roundRect">
            <a:avLst>
              <a:gd name="adj" fmla="val 7353"/>
            </a:avLst>
          </a:prstGeom>
          <a:solidFill>
            <a:srgbClr val="14213D"/>
          </a:solidFill>
          <a:ln/>
        </p:spPr>
      </p:sp>
      <p:sp>
        <p:nvSpPr>
          <p:cNvPr id="14" name="Text 12"/>
          <p:cNvSpPr/>
          <p:nvPr/>
        </p:nvSpPr>
        <p:spPr>
          <a:xfrm>
            <a:off x="6451600" y="3825081"/>
            <a:ext cx="481380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F6F2"/>
                </a:solidFill>
                <a:latin typeface="IBM Plex Sans" pitchFamily="34" charset="0"/>
                <a:ea typeface="IBM Plex Sans" pitchFamily="34" charset="-122"/>
                <a:cs typeface="IBM Plex Sans" pitchFamily="34" charset="-120"/>
              </a:rPr>
              <a:t>Script idempotente</a:t>
            </a:r>
            <a:endParaRPr lang="en-US" sz="1800" dirty="0"/>
          </a:p>
        </p:txBody>
      </p:sp>
      <p:sp>
        <p:nvSpPr>
          <p:cNvPr id="15" name="Text 13"/>
          <p:cNvSpPr/>
          <p:nvPr/>
        </p:nvSpPr>
        <p:spPr>
          <a:xfrm>
            <a:off x="6451600" y="4175571"/>
            <a:ext cx="481380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3"/>
                </a:solidFill>
                <a:latin typeface="IBM Plex Sans" pitchFamily="34" charset="0"/>
                <a:ea typeface="IBM Plex Sans" pitchFamily="34" charset="-122"/>
                <a:cs typeface="IBM Plex Sans" pitchFamily="34" charset="-120"/>
              </a:rPr>
              <a:t>preparar_servidor.sh con 7 TODO: se ejecuta dos veces y siempre termina en el mismo estado</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0EA"/>
        </a:solidFill>
      </p:bgPr>
    </p:bg>
    <p:spTree>
      <p:nvGrpSpPr>
        <p:cNvPr id="1" name=""/>
        <p:cNvGrpSpPr/>
        <p:nvPr/>
      </p:nvGrpSpPr>
      <p:grpSpPr>
        <a:xfrm>
          <a:off x="0" y="0"/>
          <a:ext cx="0" cy="0"/>
          <a:chOff x="0" y="0"/>
          <a:chExt cx="0" cy="0"/>
        </a:xfrm>
      </p:grpSpPr>
      <p:sp>
        <p:nvSpPr>
          <p:cNvPr id="2" name="Text 0"/>
          <p:cNvSpPr/>
          <p:nvPr/>
        </p:nvSpPr>
        <p:spPr>
          <a:xfrm>
            <a:off x="812800" y="2257772"/>
            <a:ext cx="45783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E1C"/>
                </a:solidFill>
                <a:latin typeface="IBM Plex Sans" pitchFamily="34" charset="0"/>
                <a:ea typeface="IBM Plex Sans" pitchFamily="34" charset="-122"/>
                <a:cs typeface="IBM Plex Sans" pitchFamily="34" charset="-120"/>
              </a:rPr>
              <a:t>LABORATORIO 2 · EVIDENCIA</a:t>
            </a:r>
            <a:endParaRPr lang="en-US" sz="1200" dirty="0"/>
          </a:p>
        </p:txBody>
      </p:sp>
      <p:sp>
        <p:nvSpPr>
          <p:cNvPr id="3" name="Text 1"/>
          <p:cNvSpPr/>
          <p:nvPr>
            <p:ph type="title"/>
          </p:nvPr>
        </p:nvSpPr>
        <p:spPr>
          <a:xfrm>
            <a:off x="812800" y="2674293"/>
            <a:ext cx="4578350"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14 de 14 comprobaciones</a:t>
            </a:r>
            <a:endParaRPr lang="en-US" sz="3200" dirty="0"/>
          </a:p>
        </p:txBody>
      </p:sp>
      <p:sp>
        <p:nvSpPr>
          <p:cNvPr id="4" name="Text 2"/>
          <p:cNvSpPr/>
          <p:nvPr/>
        </p:nvSpPr>
        <p:spPr>
          <a:xfrm>
            <a:off x="812800" y="3771553"/>
            <a:ext cx="4578350"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Ubuntu 24.04, nombre srv-horizonte, zona America/La_Paz, usuario y grupos, setgid 2775, paquetes y SSH activo en el puerto 22.</a:t>
            </a:r>
            <a:endParaRPr lang="en-US" sz="1500" dirty="0"/>
          </a:p>
        </p:txBody>
      </p:sp>
      <p:sp>
        <p:nvSpPr>
          <p:cNvPr id="5" name="Shape 3"/>
          <p:cNvSpPr/>
          <p:nvPr/>
        </p:nvSpPr>
        <p:spPr>
          <a:xfrm>
            <a:off x="5664200" y="1831975"/>
            <a:ext cx="5715000" cy="3194050"/>
          </a:xfrm>
          <a:prstGeom prst="roundRect">
            <a:avLst>
              <a:gd name="adj" fmla="val 3181"/>
            </a:avLst>
          </a:prstGeom>
          <a:solidFill>
            <a:srgbClr val="0C0C0C"/>
          </a:solidFill>
          <a:ln/>
        </p:spPr>
      </p:sp>
      <p:pic>
        <p:nvPicPr>
          <p:cNvPr id="6" name="Image 0" descr="Salida del verificador del Laboratorio 2 con 14 de 14 comprobaciones">    </p:cNvPr>
          <p:cNvPicPr>
            <a:picLocks noChangeAspect="1"/>
          </p:cNvPicPr>
          <p:nvPr/>
        </p:nvPicPr>
        <p:blipFill>
          <a:blip r:embed="rId1"/>
          <a:srcRect l="-19" r="-19" t="0" b="0"/>
          <a:stretch/>
        </p:blipFill>
        <p:spPr>
          <a:xfrm>
            <a:off x="5664200" y="1831975"/>
            <a:ext cx="5715000" cy="3194050"/>
          </a:xfrm>
          <a:prstGeom prst="roundRect">
            <a:avLst>
              <a:gd name="adj" fmla="val 3181"/>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E1C"/>
                </a:solidFill>
                <a:latin typeface="IBM Plex Sans" pitchFamily="34" charset="0"/>
                <a:ea typeface="IBM Plex Sans" pitchFamily="34" charset="-122"/>
                <a:cs typeface="IBM Plex Sans" pitchFamily="34" charset="-120"/>
              </a:rPr>
              <a:t>LABORATORIO 3</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Un Nginx, una IP, varios sitios</a:t>
            </a:r>
            <a:endParaRPr lang="en-US" sz="3600" dirty="0"/>
          </a:p>
        </p:txBody>
      </p:sp>
      <p:sp>
        <p:nvSpPr>
          <p:cNvPr id="4" name="Shape 2"/>
          <p:cNvSpPr/>
          <p:nvPr/>
        </p:nvSpPr>
        <p:spPr>
          <a:xfrm>
            <a:off x="812800" y="2233613"/>
            <a:ext cx="2413000" cy="1750516"/>
          </a:xfrm>
          <a:prstGeom prst="roundRect">
            <a:avLst>
              <a:gd name="adj" fmla="val 5804"/>
            </a:avLst>
          </a:prstGeom>
          <a:solidFill>
            <a:srgbClr val="14213D"/>
          </a:solidFill>
          <a:ln/>
        </p:spPr>
      </p:sp>
      <p:sp>
        <p:nvSpPr>
          <p:cNvPr id="5" name="Text 3"/>
          <p:cNvSpPr/>
          <p:nvPr/>
        </p:nvSpPr>
        <p:spPr>
          <a:xfrm>
            <a:off x="1041400" y="2462213"/>
            <a:ext cx="201447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7F6F2"/>
                </a:solidFill>
                <a:latin typeface="IBM Plex Sans" pitchFamily="34" charset="0"/>
                <a:ea typeface="IBM Plex Sans" pitchFamily="34" charset="-122"/>
                <a:cs typeface="IBM Plex Sans" pitchFamily="34" charset="-120"/>
              </a:rPr>
              <a:t>Petición HTTP</a:t>
            </a:r>
            <a:endParaRPr lang="en-US" sz="1700" dirty="0"/>
          </a:p>
        </p:txBody>
      </p:sp>
      <p:sp>
        <p:nvSpPr>
          <p:cNvPr id="6" name="Text 4"/>
          <p:cNvSpPr/>
          <p:nvPr/>
        </p:nvSpPr>
        <p:spPr>
          <a:xfrm>
            <a:off x="1041400" y="2797473"/>
            <a:ext cx="20144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A070"/>
                </a:solidFill>
                <a:latin typeface="JetBrains Mono" pitchFamily="49" charset="0"/>
                <a:ea typeface="JetBrains Mono" pitchFamily="49" charset="-122"/>
                <a:cs typeface="JetBrains Mono" pitchFamily="49" charset="-120"/>
              </a:rPr>
              <a:t>Host: …</a:t>
            </a:r>
            <a:endParaRPr lang="en-US" sz="1200" dirty="0"/>
          </a:p>
        </p:txBody>
      </p:sp>
      <p:sp>
        <p:nvSpPr>
          <p:cNvPr id="7" name="Text 5"/>
          <p:cNvSpPr/>
          <p:nvPr/>
        </p:nvSpPr>
        <p:spPr>
          <a:xfrm>
            <a:off x="1041400" y="3086993"/>
            <a:ext cx="2014474"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D3E3"/>
                </a:solidFill>
                <a:latin typeface="IBM Plex Sans" pitchFamily="34" charset="0"/>
                <a:ea typeface="IBM Plex Sans" pitchFamily="34" charset="-122"/>
                <a:cs typeface="IBM Plex Sans" pitchFamily="34" charset="-120"/>
              </a:rPr>
              <a:t>Nginx compara la cabecera con server_name</a:t>
            </a:r>
            <a:endParaRPr lang="en-US" sz="1300" dirty="0"/>
          </a:p>
        </p:txBody>
      </p:sp>
      <p:pic>
        <p:nvPicPr>
          <p:cNvPr id="8" name="Image 0" descr="arrow-right">    </p:cNvPr>
          <p:cNvPicPr>
            <a:picLocks noChangeAspect="1"/>
          </p:cNvPicPr>
          <p:nvPr/>
        </p:nvPicPr>
        <p:blipFill>
          <a:blip r:embed="rId1"/>
          <a:srcRect l="0" r="0" t="0" b="0"/>
          <a:stretch/>
        </p:blipFill>
        <p:spPr>
          <a:xfrm>
            <a:off x="3429000" y="2994571"/>
            <a:ext cx="457200" cy="228600"/>
          </a:xfrm>
          <a:prstGeom prst="rect">
            <a:avLst/>
          </a:prstGeom>
        </p:spPr>
      </p:pic>
      <p:sp>
        <p:nvSpPr>
          <p:cNvPr id="9" name="Shape 6"/>
          <p:cNvSpPr/>
          <p:nvPr/>
        </p:nvSpPr>
        <p:spPr>
          <a:xfrm>
            <a:off x="4095750" y="1941761"/>
            <a:ext cx="7277100" cy="497830"/>
          </a:xfrm>
          <a:prstGeom prst="roundRect">
            <a:avLst>
              <a:gd name="adj" fmla="val 14031"/>
            </a:avLst>
          </a:prstGeom>
          <a:solidFill>
            <a:srgbClr val="FFFFFF"/>
          </a:solidFill>
          <a:ln w="12700">
            <a:solidFill>
              <a:srgbClr val="D5D9E0"/>
            </a:solidFill>
            <a:prstDash val="solid"/>
          </a:ln>
        </p:spPr>
      </p:sp>
      <p:sp>
        <p:nvSpPr>
          <p:cNvPr id="10" name="Text 7"/>
          <p:cNvSpPr/>
          <p:nvPr/>
        </p:nvSpPr>
        <p:spPr>
          <a:xfrm>
            <a:off x="4305300" y="2075111"/>
            <a:ext cx="261520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www.horizonte.internal</a:t>
            </a:r>
            <a:endParaRPr lang="en-US" sz="1300" dirty="0"/>
          </a:p>
        </p:txBody>
      </p:sp>
      <p:sp>
        <p:nvSpPr>
          <p:cNvPr id="11" name="Text 8"/>
          <p:cNvSpPr/>
          <p:nvPr/>
        </p:nvSpPr>
        <p:spPr>
          <a:xfrm>
            <a:off x="9135130" y="2075111"/>
            <a:ext cx="2028170" cy="25653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sitio institucional · 200</a:t>
            </a:r>
            <a:endParaRPr lang="en-US" sz="1300" dirty="0"/>
          </a:p>
        </p:txBody>
      </p:sp>
      <p:sp>
        <p:nvSpPr>
          <p:cNvPr id="12" name="Shape 9"/>
          <p:cNvSpPr/>
          <p:nvPr/>
        </p:nvSpPr>
        <p:spPr>
          <a:xfrm>
            <a:off x="4095750" y="2553891"/>
            <a:ext cx="7277100" cy="497830"/>
          </a:xfrm>
          <a:prstGeom prst="roundRect">
            <a:avLst>
              <a:gd name="adj" fmla="val 14031"/>
            </a:avLst>
          </a:prstGeom>
          <a:solidFill>
            <a:srgbClr val="FFFFFF"/>
          </a:solidFill>
          <a:ln w="12700">
            <a:solidFill>
              <a:srgbClr val="D5D9E0"/>
            </a:solidFill>
            <a:prstDash val="solid"/>
          </a:ln>
        </p:spPr>
      </p:sp>
      <p:sp>
        <p:nvSpPr>
          <p:cNvPr id="13" name="Text 10"/>
          <p:cNvSpPr/>
          <p:nvPr/>
        </p:nvSpPr>
        <p:spPr>
          <a:xfrm>
            <a:off x="4305300" y="2687241"/>
            <a:ext cx="29718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portal.horizonte.internal</a:t>
            </a:r>
            <a:endParaRPr lang="en-US" sz="1300" dirty="0"/>
          </a:p>
        </p:txBody>
      </p:sp>
      <p:sp>
        <p:nvSpPr>
          <p:cNvPr id="14" name="Text 11"/>
          <p:cNvSpPr/>
          <p:nvPr/>
        </p:nvSpPr>
        <p:spPr>
          <a:xfrm>
            <a:off x="9015472" y="2687241"/>
            <a:ext cx="2147828" cy="25653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portal para padres · 200</a:t>
            </a:r>
            <a:endParaRPr lang="en-US" sz="1300" dirty="0"/>
          </a:p>
        </p:txBody>
      </p:sp>
      <p:sp>
        <p:nvSpPr>
          <p:cNvPr id="15" name="Shape 12"/>
          <p:cNvSpPr/>
          <p:nvPr/>
        </p:nvSpPr>
        <p:spPr>
          <a:xfrm>
            <a:off x="4095750" y="3166021"/>
            <a:ext cx="7277100" cy="497830"/>
          </a:xfrm>
          <a:prstGeom prst="roundRect">
            <a:avLst>
              <a:gd name="adj" fmla="val 14031"/>
            </a:avLst>
          </a:prstGeom>
          <a:solidFill>
            <a:srgbClr val="FFFFFF"/>
          </a:solidFill>
          <a:ln w="12700">
            <a:solidFill>
              <a:srgbClr val="D5D9E0"/>
            </a:solidFill>
            <a:prstDash val="solid"/>
          </a:ln>
        </p:spPr>
      </p:sp>
      <p:sp>
        <p:nvSpPr>
          <p:cNvPr id="16" name="Text 13"/>
          <p:cNvSpPr/>
          <p:nvPr/>
        </p:nvSpPr>
        <p:spPr>
          <a:xfrm>
            <a:off x="4305300" y="3299371"/>
            <a:ext cx="213973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horizonte.internal</a:t>
            </a:r>
            <a:endParaRPr lang="en-US" sz="1300" dirty="0"/>
          </a:p>
        </p:txBody>
      </p:sp>
      <p:sp>
        <p:nvSpPr>
          <p:cNvPr id="17" name="Text 14"/>
          <p:cNvSpPr/>
          <p:nvPr/>
        </p:nvSpPr>
        <p:spPr>
          <a:xfrm>
            <a:off x="10058579" y="3299371"/>
            <a:ext cx="1104721" cy="25653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301 → www</a:t>
            </a:r>
            <a:endParaRPr lang="en-US" sz="1300" dirty="0"/>
          </a:p>
        </p:txBody>
      </p:sp>
      <p:sp>
        <p:nvSpPr>
          <p:cNvPr id="18" name="Shape 15"/>
          <p:cNvSpPr/>
          <p:nvPr/>
        </p:nvSpPr>
        <p:spPr>
          <a:xfrm>
            <a:off x="4095750" y="3778151"/>
            <a:ext cx="7277100" cy="497830"/>
          </a:xfrm>
          <a:prstGeom prst="roundRect">
            <a:avLst>
              <a:gd name="adj" fmla="val 14031"/>
            </a:avLst>
          </a:prstGeom>
          <a:solidFill>
            <a:srgbClr val="FBE9DF"/>
          </a:solidFill>
          <a:ln w="12700">
            <a:solidFill>
              <a:srgbClr val="E2B79F"/>
            </a:solidFill>
            <a:prstDash val="solid"/>
          </a:ln>
        </p:spPr>
      </p:sp>
      <p:sp>
        <p:nvSpPr>
          <p:cNvPr id="19" name="Text 16"/>
          <p:cNvSpPr/>
          <p:nvPr/>
        </p:nvSpPr>
        <p:spPr>
          <a:xfrm>
            <a:off x="4305300" y="3911501"/>
            <a:ext cx="130760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intruso.com</a:t>
            </a:r>
            <a:endParaRPr lang="en-US" sz="1300" dirty="0"/>
          </a:p>
        </p:txBody>
      </p:sp>
      <p:sp>
        <p:nvSpPr>
          <p:cNvPr id="20" name="Text 17"/>
          <p:cNvSpPr/>
          <p:nvPr/>
        </p:nvSpPr>
        <p:spPr>
          <a:xfrm>
            <a:off x="9355634" y="3911501"/>
            <a:ext cx="1807666" cy="25653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8A3A12"/>
                </a:solidFill>
                <a:latin typeface="IBM Plex Sans" pitchFamily="34" charset="0"/>
                <a:ea typeface="IBM Plex Sans" pitchFamily="34" charset="-122"/>
                <a:cs typeface="IBM Plex Sans" pitchFamily="34" charset="-120"/>
              </a:rPr>
              <a:t>default_server · 444</a:t>
            </a:r>
            <a:endParaRPr lang="en-US" sz="1300" dirty="0"/>
          </a:p>
        </p:txBody>
      </p:sp>
      <p:sp>
        <p:nvSpPr>
          <p:cNvPr id="21" name="Text 18"/>
          <p:cNvSpPr/>
          <p:nvPr/>
        </p:nvSpPr>
        <p:spPr>
          <a:xfrm>
            <a:off x="812800" y="4587131"/>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También: caché de 7 días, autoindex en /circulares/, páginas 404 y 50x propias, y registro con formato horizonte.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0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E1C"/>
                </a:solidFill>
                <a:latin typeface="IBM Plex Sans" pitchFamily="34" charset="0"/>
                <a:ea typeface="IBM Plex Sans" pitchFamily="34" charset="-122"/>
                <a:cs typeface="IBM Plex Sans" pitchFamily="34" charset="-120"/>
              </a:rPr>
              <a:t>LABORATORIO 3 · EVIDENCIA</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Desde el navegador y el verificador</a:t>
            </a:r>
            <a:endParaRPr lang="en-US" sz="3200" dirty="0"/>
          </a:p>
        </p:txBody>
      </p:sp>
      <p:sp>
        <p:nvSpPr>
          <p:cNvPr id="4" name="Shape 2"/>
          <p:cNvSpPr/>
          <p:nvPr/>
        </p:nvSpPr>
        <p:spPr>
          <a:xfrm>
            <a:off x="812800" y="1828750"/>
            <a:ext cx="6350000" cy="2508250"/>
          </a:xfrm>
          <a:prstGeom prst="roundRect">
            <a:avLst>
              <a:gd name="adj" fmla="val 4051"/>
            </a:avLst>
          </a:prstGeom>
          <a:solidFill>
            <a:srgbClr val="FFFFFF"/>
          </a:solidFill>
          <a:ln/>
        </p:spPr>
      </p:sp>
      <p:pic>
        <p:nvPicPr>
          <p:cNvPr id="5" name="Image 0" descr="Sitio www.horizonte.internal abierto en el navegador por el puerto 8080">    </p:cNvPr>
          <p:cNvPicPr>
            <a:picLocks noChangeAspect="1"/>
          </p:cNvPicPr>
          <p:nvPr/>
        </p:nvPicPr>
        <p:blipFill>
          <a:blip r:embed="rId1"/>
          <a:srcRect l="-239" r="-239" t="0" b="0"/>
          <a:stretch/>
        </p:blipFill>
        <p:spPr>
          <a:xfrm>
            <a:off x="825500" y="1841450"/>
            <a:ext cx="6324600" cy="2482850"/>
          </a:xfrm>
          <a:prstGeom prst="roundRect">
            <a:avLst>
              <a:gd name="adj" fmla="val 3581"/>
            </a:avLst>
          </a:prstGeom>
        </p:spPr>
      </p:pic>
      <p:sp>
        <p:nvSpPr>
          <p:cNvPr id="6" name="Shape 3"/>
          <p:cNvSpPr/>
          <p:nvPr/>
        </p:nvSpPr>
        <p:spPr>
          <a:xfrm>
            <a:off x="819150" y="1835100"/>
            <a:ext cx="6337300" cy="2495550"/>
          </a:xfrm>
          <a:prstGeom prst="roundRect">
            <a:avLst>
              <a:gd name="adj" fmla="val 3817"/>
            </a:avLst>
          </a:prstGeom>
          <a:noFill/>
          <a:ln w="12700">
            <a:solidFill>
              <a:srgbClr val="D5D9E0"/>
            </a:solidFill>
            <a:prstDash val="solid"/>
          </a:ln>
        </p:spPr>
      </p:sp>
      <p:sp>
        <p:nvSpPr>
          <p:cNvPr id="7" name="Shape 4"/>
          <p:cNvSpPr/>
          <p:nvPr/>
        </p:nvSpPr>
        <p:spPr>
          <a:xfrm>
            <a:off x="7416800" y="1828750"/>
            <a:ext cx="3962400" cy="1758950"/>
          </a:xfrm>
          <a:prstGeom prst="roundRect">
            <a:avLst>
              <a:gd name="adj" fmla="val 5776"/>
            </a:avLst>
          </a:prstGeom>
          <a:solidFill>
            <a:srgbClr val="0C0C0C"/>
          </a:solidFill>
          <a:ln/>
        </p:spPr>
      </p:sp>
      <p:pic>
        <p:nvPicPr>
          <p:cNvPr id="8" name="Image 1" descr="Verificador del Laboratorio 3 con 14 de 14 comprobaciones">    </p:cNvPr>
          <p:cNvPicPr>
            <a:picLocks noChangeAspect="1"/>
          </p:cNvPicPr>
          <p:nvPr/>
        </p:nvPicPr>
        <p:blipFill>
          <a:blip r:embed="rId2"/>
          <a:srcRect l="-51" r="-51" t="0" b="0"/>
          <a:stretch/>
        </p:blipFill>
        <p:spPr>
          <a:xfrm>
            <a:off x="7416800" y="1828750"/>
            <a:ext cx="3962400" cy="1758950"/>
          </a:xfrm>
          <a:prstGeom prst="roundRect">
            <a:avLst>
              <a:gd name="adj" fmla="val 5776"/>
            </a:avLst>
          </a:prstGeom>
        </p:spPr>
      </p:pic>
      <p:sp>
        <p:nvSpPr>
          <p:cNvPr id="9" name="Text 5"/>
          <p:cNvSpPr/>
          <p:nvPr/>
        </p:nvSpPr>
        <p:spPr>
          <a:xfrm>
            <a:off x="812800" y="4591000"/>
            <a:ext cx="108833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Errores provocados con nginx -t: falta de ; en listen, try_file mal escrito y } faltante. La trampa: sin ; en index el test pasa con un [warn] y el sitio pierde su registro.</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E1C"/>
                </a:solidFill>
                <a:latin typeface="IBM Plex Sans" pitchFamily="34" charset="0"/>
                <a:ea typeface="IBM Plex Sans" pitchFamily="34" charset="-122"/>
                <a:cs typeface="IBM Plex Sans" pitchFamily="34" charset="-120"/>
              </a:rPr>
              <a:t>LABORATORIO 4</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Nginx delante, dos backends detrás</a:t>
            </a:r>
            <a:endParaRPr lang="en-US" sz="3600" dirty="0"/>
          </a:p>
        </p:txBody>
      </p:sp>
      <p:sp>
        <p:nvSpPr>
          <p:cNvPr id="4" name="Shape 2"/>
          <p:cNvSpPr/>
          <p:nvPr/>
        </p:nvSpPr>
        <p:spPr>
          <a:xfrm>
            <a:off x="812800" y="2351633"/>
            <a:ext cx="2667000" cy="1624211"/>
          </a:xfrm>
          <a:prstGeom prst="roundRect">
            <a:avLst>
              <a:gd name="adj" fmla="val 6255"/>
            </a:avLst>
          </a:prstGeom>
          <a:solidFill>
            <a:srgbClr val="14213D"/>
          </a:solidFill>
          <a:ln/>
        </p:spPr>
      </p:sp>
      <p:sp>
        <p:nvSpPr>
          <p:cNvPr id="5" name="Text 3"/>
          <p:cNvSpPr/>
          <p:nvPr/>
        </p:nvSpPr>
        <p:spPr>
          <a:xfrm>
            <a:off x="1066800" y="2605633"/>
            <a:ext cx="222377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7F6F2"/>
                </a:solidFill>
                <a:latin typeface="IBM Plex Sans" pitchFamily="34" charset="0"/>
                <a:ea typeface="IBM Plex Sans" pitchFamily="34" charset="-122"/>
                <a:cs typeface="IBM Plex Sans" pitchFamily="34" charset="-120"/>
              </a:rPr>
              <a:t>Nginx</a:t>
            </a:r>
            <a:endParaRPr lang="en-US" sz="2000" dirty="0"/>
          </a:p>
        </p:txBody>
      </p:sp>
      <p:sp>
        <p:nvSpPr>
          <p:cNvPr id="6" name="Text 4"/>
          <p:cNvSpPr/>
          <p:nvPr/>
        </p:nvSpPr>
        <p:spPr>
          <a:xfrm>
            <a:off x="1066800" y="2986633"/>
            <a:ext cx="222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A070"/>
                </a:solidFill>
                <a:latin typeface="JetBrains Mono" pitchFamily="49" charset="0"/>
                <a:ea typeface="JetBrains Mono" pitchFamily="49" charset="-122"/>
                <a:cs typeface="JetBrains Mono" pitchFamily="49" charset="-120"/>
              </a:rPr>
              <a:t>root …/portal/public</a:t>
            </a:r>
            <a:endParaRPr lang="en-US" sz="1200" dirty="0"/>
          </a:p>
        </p:txBody>
      </p:sp>
      <p:sp>
        <p:nvSpPr>
          <p:cNvPr id="7" name="Text 5"/>
          <p:cNvSpPr/>
          <p:nvPr/>
        </p:nvSpPr>
        <p:spPr>
          <a:xfrm>
            <a:off x="1066800" y="3276154"/>
            <a:ext cx="222377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D3E3"/>
                </a:solidFill>
                <a:latin typeface="IBM Plex Sans" pitchFamily="34" charset="0"/>
                <a:ea typeface="IBM Plex Sans" pitchFamily="34" charset="-122"/>
                <a:cs typeface="IBM Plex Sans" pitchFamily="34" charset="-120"/>
              </a:rPr>
              <a:t>Solo public/ es visible; app/ da 404</a:t>
            </a:r>
            <a:endParaRPr lang="en-US" sz="1300" dirty="0"/>
          </a:p>
        </p:txBody>
      </p:sp>
      <p:pic>
        <p:nvPicPr>
          <p:cNvPr id="8" name="Image 0" descr="arrow-right">    </p:cNvPr>
          <p:cNvPicPr>
            <a:picLocks noChangeAspect="1"/>
          </p:cNvPicPr>
          <p:nvPr/>
        </p:nvPicPr>
        <p:blipFill>
          <a:blip r:embed="rId1"/>
          <a:srcRect l="0" r="0" t="0" b="0"/>
          <a:stretch/>
        </p:blipFill>
        <p:spPr>
          <a:xfrm>
            <a:off x="3683000" y="2354163"/>
            <a:ext cx="457200" cy="228600"/>
          </a:xfrm>
          <a:prstGeom prst="rect">
            <a:avLst/>
          </a:prstGeom>
        </p:spPr>
      </p:pic>
      <p:sp>
        <p:nvSpPr>
          <p:cNvPr id="9" name="Shape 6"/>
          <p:cNvSpPr/>
          <p:nvPr/>
        </p:nvSpPr>
        <p:spPr>
          <a:xfrm>
            <a:off x="4298950" y="1992561"/>
            <a:ext cx="7073900" cy="951805"/>
          </a:xfrm>
          <a:prstGeom prst="roundRect">
            <a:avLst>
              <a:gd name="adj" fmla="val 10007"/>
            </a:avLst>
          </a:prstGeom>
          <a:solidFill>
            <a:srgbClr val="FFFFFF"/>
          </a:solidFill>
          <a:ln w="12700">
            <a:solidFill>
              <a:srgbClr val="D5D9E0"/>
            </a:solidFill>
            <a:prstDash val="solid"/>
          </a:ln>
        </p:spPr>
      </p:sp>
      <p:sp>
        <p:nvSpPr>
          <p:cNvPr id="10" name="Text 7"/>
          <p:cNvSpPr/>
          <p:nvPr/>
        </p:nvSpPr>
        <p:spPr>
          <a:xfrm>
            <a:off x="4508500" y="2202111"/>
            <a:ext cx="685444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*.php → PHP-FPM 8.3</a:t>
            </a:r>
            <a:endParaRPr lang="en-US" sz="1700" dirty="0"/>
          </a:p>
        </p:txBody>
      </p:sp>
      <p:sp>
        <p:nvSpPr>
          <p:cNvPr id="11" name="Text 8"/>
          <p:cNvSpPr/>
          <p:nvPr/>
        </p:nvSpPr>
        <p:spPr>
          <a:xfrm>
            <a:off x="4508500" y="2511971"/>
            <a:ext cx="6854444"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IBM Plex Sans" pitchFamily="34" charset="0"/>
                <a:ea typeface="IBM Plex Sans" pitchFamily="34" charset="-122"/>
                <a:cs typeface="IBM Plex Sans" pitchFamily="34" charset="-120"/>
              </a:rPr>
              <a:t>FastCGI por el socket Unix /run/php/php8.3-fpm.sock; workers como www-data</a:t>
            </a:r>
            <a:endParaRPr lang="en-US" sz="1300" dirty="0"/>
          </a:p>
        </p:txBody>
      </p:sp>
      <p:pic>
        <p:nvPicPr>
          <p:cNvPr id="12" name="Image 1" descr="arrow-right">    </p:cNvPr>
          <p:cNvPicPr>
            <a:picLocks noChangeAspect="1"/>
          </p:cNvPicPr>
          <p:nvPr/>
        </p:nvPicPr>
        <p:blipFill>
          <a:blip r:embed="rId2"/>
          <a:srcRect l="0" r="0" t="0" b="0"/>
          <a:stretch/>
        </p:blipFill>
        <p:spPr>
          <a:xfrm>
            <a:off x="3683000" y="3633291"/>
            <a:ext cx="457200" cy="228600"/>
          </a:xfrm>
          <a:prstGeom prst="rect">
            <a:avLst/>
          </a:prstGeom>
        </p:spPr>
      </p:pic>
      <p:sp>
        <p:nvSpPr>
          <p:cNvPr id="13" name="Shape 9"/>
          <p:cNvSpPr/>
          <p:nvPr/>
        </p:nvSpPr>
        <p:spPr>
          <a:xfrm>
            <a:off x="4298950" y="3160266"/>
            <a:ext cx="7073900" cy="1174651"/>
          </a:xfrm>
          <a:prstGeom prst="roundRect">
            <a:avLst>
              <a:gd name="adj" fmla="val 8109"/>
            </a:avLst>
          </a:prstGeom>
          <a:solidFill>
            <a:srgbClr val="FFFFFF"/>
          </a:solidFill>
          <a:ln w="12700">
            <a:solidFill>
              <a:srgbClr val="D5D9E0"/>
            </a:solidFill>
            <a:prstDash val="solid"/>
          </a:ln>
        </p:spPr>
      </p:sp>
      <p:sp>
        <p:nvSpPr>
          <p:cNvPr id="14" name="Text 10"/>
          <p:cNvSpPr/>
          <p:nvPr/>
        </p:nvSpPr>
        <p:spPr>
          <a:xfrm>
            <a:off x="4508500" y="3369816"/>
            <a:ext cx="685444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/api/ → horizonte-eco</a:t>
            </a:r>
            <a:endParaRPr lang="en-US" sz="1700" dirty="0"/>
          </a:p>
        </p:txBody>
      </p:sp>
      <p:sp>
        <p:nvSpPr>
          <p:cNvPr id="15" name="Text 11"/>
          <p:cNvSpPr/>
          <p:nvPr/>
        </p:nvSpPr>
        <p:spPr>
          <a:xfrm>
            <a:off x="4508500" y="3679676"/>
            <a:ext cx="685444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IBM Plex Sans" pitchFamily="34" charset="0"/>
                <a:ea typeface="IBM Plex Sans" pitchFamily="34" charset="-122"/>
                <a:cs typeface="IBM Plex Sans" pitchFamily="34" charset="-120"/>
              </a:rPr>
              <a:t>Proxy inverso HTTP a 127.0.0.1:8081 con X-Real-IP y X-Forwarded-For; servicio systemd como www-data</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A070"/>
                </a:solidFill>
                <a:latin typeface="IBM Plex Sans" pitchFamily="34" charset="0"/>
                <a:ea typeface="IBM Plex Sans" pitchFamily="34" charset="-122"/>
                <a:cs typeface="IBM Plex Sans" pitchFamily="34" charset="-120"/>
              </a:rPr>
              <a:t>LABORATORIO 4 · SEGURIDAD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6F2"/>
                </a:solidFill>
                <a:latin typeface="IBM Plex Sans" pitchFamily="34" charset="0"/>
                <a:ea typeface="IBM Plex Sans" pitchFamily="34" charset="-122"/>
                <a:cs typeface="IBM Plex Sans" pitchFamily="34" charset="-120"/>
              </a:rPr>
              <a:t>Una sesión que no se deja robar</a:t>
            </a:r>
            <a:endParaRPr lang="en-US" sz="3600" dirty="0"/>
          </a:p>
        </p:txBody>
      </p:sp>
      <p:sp>
        <p:nvSpPr>
          <p:cNvPr id="4" name="Shape 2"/>
          <p:cNvSpPr/>
          <p:nvPr/>
        </p:nvSpPr>
        <p:spPr>
          <a:xfrm>
            <a:off x="812800" y="1986211"/>
            <a:ext cx="5181600" cy="1356271"/>
          </a:xfrm>
          <a:prstGeom prst="roundRect">
            <a:avLst>
              <a:gd name="adj" fmla="val 7491"/>
            </a:avLst>
          </a:prstGeom>
          <a:solidFill>
            <a:srgbClr val="22325A"/>
          </a:solidFill>
          <a:ln/>
        </p:spPr>
      </p:sp>
      <p:sp>
        <p:nvSpPr>
          <p:cNvPr id="5" name="Text 3"/>
          <p:cNvSpPr/>
          <p:nvPr/>
        </p:nvSpPr>
        <p:spPr>
          <a:xfrm>
            <a:off x="1066800" y="2240211"/>
            <a:ext cx="481380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F6F2"/>
                </a:solidFill>
                <a:latin typeface="IBM Plex Sans" pitchFamily="34" charset="0"/>
                <a:ea typeface="IBM Plex Sans" pitchFamily="34" charset="-122"/>
                <a:cs typeface="IBM Plex Sans" pitchFamily="34" charset="-120"/>
              </a:rPr>
              <a:t>HttpOnly</a:t>
            </a:r>
            <a:endParaRPr lang="en-US" sz="1800" dirty="0"/>
          </a:p>
        </p:txBody>
      </p:sp>
      <p:sp>
        <p:nvSpPr>
          <p:cNvPr id="6" name="Text 4"/>
          <p:cNvSpPr/>
          <p:nvPr/>
        </p:nvSpPr>
        <p:spPr>
          <a:xfrm>
            <a:off x="1066800" y="2590701"/>
            <a:ext cx="481380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3"/>
                </a:solidFill>
                <a:latin typeface="IBM Plex Sans" pitchFamily="34" charset="0"/>
                <a:ea typeface="IBM Plex Sans" pitchFamily="34" charset="-122"/>
                <a:cs typeface="IBM Plex Sans" pitchFamily="34" charset="-120"/>
              </a:rPr>
              <a:t>document.cookie devuelve vacío: JavaScript no puede leer la cookie (XSS)</a:t>
            </a:r>
            <a:endParaRPr lang="en-US" sz="1400" dirty="0"/>
          </a:p>
        </p:txBody>
      </p:sp>
      <p:sp>
        <p:nvSpPr>
          <p:cNvPr id="7" name="Shape 5"/>
          <p:cNvSpPr/>
          <p:nvPr/>
        </p:nvSpPr>
        <p:spPr>
          <a:xfrm>
            <a:off x="6197600" y="1986211"/>
            <a:ext cx="5181600" cy="1356271"/>
          </a:xfrm>
          <a:prstGeom prst="roundRect">
            <a:avLst>
              <a:gd name="adj" fmla="val 7491"/>
            </a:avLst>
          </a:prstGeom>
          <a:solidFill>
            <a:srgbClr val="22325A"/>
          </a:solidFill>
          <a:ln/>
        </p:spPr>
      </p:sp>
      <p:sp>
        <p:nvSpPr>
          <p:cNvPr id="8" name="Text 6"/>
          <p:cNvSpPr/>
          <p:nvPr/>
        </p:nvSpPr>
        <p:spPr>
          <a:xfrm>
            <a:off x="6451600" y="2240211"/>
            <a:ext cx="481380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F6F2"/>
                </a:solidFill>
                <a:latin typeface="IBM Plex Sans" pitchFamily="34" charset="0"/>
                <a:ea typeface="IBM Plex Sans" pitchFamily="34" charset="-122"/>
                <a:cs typeface="IBM Plex Sans" pitchFamily="34" charset="-120"/>
              </a:rPr>
              <a:t>SameSite=Lax</a:t>
            </a:r>
            <a:endParaRPr lang="en-US" sz="1800" dirty="0"/>
          </a:p>
        </p:txBody>
      </p:sp>
      <p:sp>
        <p:nvSpPr>
          <p:cNvPr id="9" name="Text 7"/>
          <p:cNvSpPr/>
          <p:nvPr/>
        </p:nvSpPr>
        <p:spPr>
          <a:xfrm>
            <a:off x="6451600" y="2590701"/>
            <a:ext cx="481380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3"/>
                </a:solidFill>
                <a:latin typeface="IBM Plex Sans" pitchFamily="34" charset="0"/>
                <a:ea typeface="IBM Plex Sans" pitchFamily="34" charset="-122"/>
                <a:cs typeface="IBM Plex Sans" pitchFamily="34" charset="-120"/>
              </a:rPr>
              <a:t>La cookie no viaja en un POST que viene de otro sitio</a:t>
            </a:r>
            <a:endParaRPr lang="en-US" sz="1400" dirty="0"/>
          </a:p>
        </p:txBody>
      </p:sp>
      <p:sp>
        <p:nvSpPr>
          <p:cNvPr id="10" name="Shape 8"/>
          <p:cNvSpPr/>
          <p:nvPr/>
        </p:nvSpPr>
        <p:spPr>
          <a:xfrm>
            <a:off x="812800" y="3545681"/>
            <a:ext cx="5181600" cy="1356271"/>
          </a:xfrm>
          <a:prstGeom prst="roundRect">
            <a:avLst>
              <a:gd name="adj" fmla="val 7491"/>
            </a:avLst>
          </a:prstGeom>
          <a:solidFill>
            <a:srgbClr val="22325A"/>
          </a:solidFill>
          <a:ln/>
        </p:spPr>
      </p:sp>
      <p:sp>
        <p:nvSpPr>
          <p:cNvPr id="11" name="Text 9"/>
          <p:cNvSpPr/>
          <p:nvPr/>
        </p:nvSpPr>
        <p:spPr>
          <a:xfrm>
            <a:off x="1066800" y="3799681"/>
            <a:ext cx="481380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F6F2"/>
                </a:solidFill>
                <a:latin typeface="IBM Plex Sans" pitchFamily="34" charset="0"/>
                <a:ea typeface="IBM Plex Sans" pitchFamily="34" charset="-122"/>
                <a:cs typeface="IBM Plex Sans" pitchFamily="34" charset="-120"/>
              </a:rPr>
              <a:t>session_regenerate_id</a:t>
            </a:r>
            <a:endParaRPr lang="en-US" sz="1800" dirty="0"/>
          </a:p>
        </p:txBody>
      </p:sp>
      <p:sp>
        <p:nvSpPr>
          <p:cNvPr id="12" name="Text 10"/>
          <p:cNvSpPr/>
          <p:nvPr/>
        </p:nvSpPr>
        <p:spPr>
          <a:xfrm>
            <a:off x="1066800" y="4150171"/>
            <a:ext cx="481380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3"/>
                </a:solidFill>
                <a:latin typeface="IBM Plex Sans" pitchFamily="34" charset="0"/>
                <a:ea typeface="IBM Plex Sans" pitchFamily="34" charset="-122"/>
                <a:cs typeface="IBM Plex Sans" pitchFamily="34" charset="-120"/>
              </a:rPr>
              <a:t>ID nuevo al iniciar sesión: evita la fijación de sesión</a:t>
            </a:r>
            <a:endParaRPr lang="en-US" sz="1400" dirty="0"/>
          </a:p>
        </p:txBody>
      </p:sp>
      <p:sp>
        <p:nvSpPr>
          <p:cNvPr id="13" name="Shape 11"/>
          <p:cNvSpPr/>
          <p:nvPr/>
        </p:nvSpPr>
        <p:spPr>
          <a:xfrm>
            <a:off x="6197600" y="3545681"/>
            <a:ext cx="5181600" cy="1356271"/>
          </a:xfrm>
          <a:prstGeom prst="roundRect">
            <a:avLst>
              <a:gd name="adj" fmla="val 7491"/>
            </a:avLst>
          </a:prstGeom>
          <a:solidFill>
            <a:srgbClr val="22325A"/>
          </a:solidFill>
          <a:ln/>
        </p:spPr>
      </p:sp>
      <p:sp>
        <p:nvSpPr>
          <p:cNvPr id="14" name="Text 12"/>
          <p:cNvSpPr/>
          <p:nvPr/>
        </p:nvSpPr>
        <p:spPr>
          <a:xfrm>
            <a:off x="6451600" y="3799681"/>
            <a:ext cx="481380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F6F2"/>
                </a:solidFill>
                <a:latin typeface="IBM Plex Sans" pitchFamily="34" charset="0"/>
                <a:ea typeface="IBM Plex Sans" pitchFamily="34" charset="-122"/>
                <a:cs typeface="IBM Plex Sans" pitchFamily="34" charset="-120"/>
              </a:rPr>
              <a:t>Token CSRF</a:t>
            </a:r>
            <a:endParaRPr lang="en-US" sz="1800" dirty="0"/>
          </a:p>
        </p:txBody>
      </p:sp>
      <p:sp>
        <p:nvSpPr>
          <p:cNvPr id="15" name="Text 13"/>
          <p:cNvSpPr/>
          <p:nvPr/>
        </p:nvSpPr>
        <p:spPr>
          <a:xfrm>
            <a:off x="6451600" y="4150171"/>
            <a:ext cx="481380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3"/>
                </a:solidFill>
                <a:latin typeface="IBM Plex Sans" pitchFamily="34" charset="0"/>
                <a:ea typeface="IBM Plex Sans" pitchFamily="34" charset="-122"/>
                <a:cs typeface="IBM Plex Sans" pitchFamily="34" charset="-120"/>
              </a:rPr>
              <a:t>Formulario sin token válido → 403; los datos viven en el servidor, no en la cookie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0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E1C"/>
                </a:solidFill>
                <a:latin typeface="IBM Plex Sans" pitchFamily="34" charset="0"/>
                <a:ea typeface="IBM Plex Sans" pitchFamily="34" charset="-122"/>
                <a:cs typeface="IBM Plex Sans" pitchFamily="34" charset="-120"/>
              </a:rPr>
              <a:t>LABORATORIO 4 · EVIDENCIA</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El portal funcionando y 16 de 16</a:t>
            </a:r>
            <a:endParaRPr lang="en-US" sz="3200" dirty="0"/>
          </a:p>
        </p:txBody>
      </p:sp>
      <p:sp>
        <p:nvSpPr>
          <p:cNvPr id="4" name="Shape 2"/>
          <p:cNvSpPr/>
          <p:nvPr/>
        </p:nvSpPr>
        <p:spPr>
          <a:xfrm>
            <a:off x="812800" y="1828750"/>
            <a:ext cx="6985000" cy="3327400"/>
          </a:xfrm>
          <a:prstGeom prst="roundRect">
            <a:avLst>
              <a:gd name="adj" fmla="val 3053"/>
            </a:avLst>
          </a:prstGeom>
          <a:solidFill>
            <a:srgbClr val="FFFFFF"/>
          </a:solidFill>
          <a:ln/>
        </p:spPr>
      </p:sp>
      <p:pic>
        <p:nvPicPr>
          <p:cNvPr id="5" name="Image 0" descr="Panel del portal para padres con las notas de Lucas Mamani">    </p:cNvPr>
          <p:cNvPicPr>
            <a:picLocks noChangeAspect="1"/>
          </p:cNvPicPr>
          <p:nvPr/>
        </p:nvPicPr>
        <p:blipFill>
          <a:blip r:embed="rId1"/>
          <a:srcRect l="-242" r="-242" t="0" b="0"/>
          <a:stretch/>
        </p:blipFill>
        <p:spPr>
          <a:xfrm>
            <a:off x="825500" y="1841450"/>
            <a:ext cx="6959600" cy="3302000"/>
          </a:xfrm>
          <a:prstGeom prst="roundRect">
            <a:avLst>
              <a:gd name="adj" fmla="val 2692"/>
            </a:avLst>
          </a:prstGeom>
        </p:spPr>
      </p:pic>
      <p:sp>
        <p:nvSpPr>
          <p:cNvPr id="6" name="Shape 3"/>
          <p:cNvSpPr/>
          <p:nvPr/>
        </p:nvSpPr>
        <p:spPr>
          <a:xfrm>
            <a:off x="819150" y="1835100"/>
            <a:ext cx="6972300" cy="3314700"/>
          </a:xfrm>
          <a:prstGeom prst="roundRect">
            <a:avLst>
              <a:gd name="adj" fmla="val 2874"/>
            </a:avLst>
          </a:prstGeom>
          <a:noFill/>
          <a:ln w="12700">
            <a:solidFill>
              <a:srgbClr val="D5D9E0"/>
            </a:solidFill>
            <a:prstDash val="solid"/>
          </a:ln>
        </p:spPr>
      </p:sp>
      <p:sp>
        <p:nvSpPr>
          <p:cNvPr id="7" name="Shape 4"/>
          <p:cNvSpPr/>
          <p:nvPr/>
        </p:nvSpPr>
        <p:spPr>
          <a:xfrm>
            <a:off x="8051800" y="1828750"/>
            <a:ext cx="3327400" cy="2444750"/>
          </a:xfrm>
          <a:prstGeom prst="roundRect">
            <a:avLst>
              <a:gd name="adj" fmla="val 4156"/>
            </a:avLst>
          </a:prstGeom>
          <a:solidFill>
            <a:srgbClr val="0C0C0C"/>
          </a:solidFill>
          <a:ln/>
        </p:spPr>
      </p:sp>
      <p:pic>
        <p:nvPicPr>
          <p:cNvPr id="8" name="Image 1" descr="Verificador del Laboratorio 4 con 16 de 16 comprobaciones">    </p:cNvPr>
          <p:cNvPicPr>
            <a:picLocks noChangeAspect="1"/>
          </p:cNvPicPr>
          <p:nvPr/>
        </p:nvPicPr>
        <p:blipFill>
          <a:blip r:embed="rId2"/>
          <a:srcRect l="-38" r="-38" t="0" b="0"/>
          <a:stretch/>
        </p:blipFill>
        <p:spPr>
          <a:xfrm>
            <a:off x="8051800" y="1828750"/>
            <a:ext cx="3327400" cy="2444750"/>
          </a:xfrm>
          <a:prstGeom prst="roundRect">
            <a:avLst>
              <a:gd name="adj" fmla="val 4156"/>
            </a:avLst>
          </a:prstGeom>
        </p:spPr>
      </p:pic>
      <p:sp>
        <p:nvSpPr>
          <p:cNvPr id="9" name="Text 5"/>
          <p:cNvSpPr/>
          <p:nvPr/>
        </p:nvSpPr>
        <p:spPr>
          <a:xfrm>
            <a:off x="812800" y="5410150"/>
            <a:ext cx="108833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502 provocado: sin PHP-FPM el socket no existe; sin la API, Connection refused. En ambos casos el padre ve la página de mantenimiento.</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E1C"/>
                </a:solidFill>
                <a:latin typeface="IBM Plex Sans" pitchFamily="34" charset="0"/>
                <a:ea typeface="IBM Plex Sans" pitchFamily="34" charset="-122"/>
                <a:cs typeface="IBM Plex Sans" pitchFamily="34" charset="-120"/>
              </a:rPr>
              <a:t>PROBLEMAS RESUELTOS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Leer el error antes de actuar</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111"/>
          <a:ext cx="10553700" cy="2155924"/>
        </p:xfrm>
        <a:graphic>
          <a:graphicData uri="http://schemas.openxmlformats.org/drawingml/2006/table">
            <a:tbl>
              <a:tblPr/>
              <a:tblGrid>
                <a:gridCol w="3799332"/>
                <a:gridCol w="3588258"/>
                <a:gridCol w="3166110"/>
              </a:tblGrid>
              <a:tr h="359321">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Síntoma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Causa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Solución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apt: 403 Forbidden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Red de la universidad bloquea Ubuntu</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Instalar con otra conexión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Servicio inactive tras instalar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policy-rc.d de Docker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sudo systemctl start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Verificador Lab 3: 13/14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Faltaba return 444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Agregarlo y reinstalar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horizonte-eco: status=216/GROUP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Group=ww-data mal escrito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Corregir y reset-failed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sudo cat sess_* no encuentra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El * lo expande un usuario sin permiso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Usar el nombre exacto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A070"/>
                </a:solidFill>
                <a:latin typeface="IBM Plex Sans" pitchFamily="34" charset="0"/>
                <a:ea typeface="IBM Plex Sans" pitchFamily="34" charset="-122"/>
                <a:cs typeface="IBM Plex Sans" pitchFamily="34" charset="-120"/>
              </a:rPr>
              <a:t>LO QUE APRENDIMOS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6F2"/>
                </a:solidFill>
                <a:latin typeface="IBM Plex Sans" pitchFamily="34" charset="0"/>
                <a:ea typeface="IBM Plex Sans" pitchFamily="34" charset="-122"/>
                <a:cs typeface="IBM Plex Sans" pitchFamily="34" charset="-120"/>
              </a:rPr>
              <a:t>De un Ubuntu vacío a un portal seguro</a:t>
            </a:r>
            <a:endParaRPr lang="en-US" sz="3600" dirty="0"/>
          </a:p>
        </p:txBody>
      </p:sp>
      <p:sp>
        <p:nvSpPr>
          <p:cNvPr id="4" name="Shape 2"/>
          <p:cNvSpPr/>
          <p:nvPr/>
        </p:nvSpPr>
        <p:spPr>
          <a:xfrm>
            <a:off x="812800" y="3124250"/>
            <a:ext cx="3386634" cy="0"/>
          </a:xfrm>
          <a:prstGeom prst="line">
            <a:avLst/>
          </a:prstGeom>
          <a:noFill/>
          <a:ln w="25400">
            <a:solidFill>
              <a:srgbClr val="F0A070"/>
            </a:solidFill>
            <a:prstDash val="solid"/>
          </a:ln>
        </p:spPr>
      </p:sp>
      <p:sp>
        <p:nvSpPr>
          <p:cNvPr id="5" name="Text 3"/>
          <p:cNvSpPr/>
          <p:nvPr/>
        </p:nvSpPr>
        <p:spPr>
          <a:xfrm>
            <a:off x="812800" y="3340150"/>
            <a:ext cx="348823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7F6F2"/>
                </a:solidFill>
                <a:latin typeface="IBM Plex Sans" pitchFamily="34" charset="0"/>
                <a:ea typeface="IBM Plex Sans" pitchFamily="34" charset="-122"/>
                <a:cs typeface="IBM Plex Sans" pitchFamily="34" charset="-120"/>
              </a:rPr>
              <a:t>Automatizar</a:t>
            </a:r>
            <a:endParaRPr lang="en-US" sz="1700" dirty="0"/>
          </a:p>
        </p:txBody>
      </p:sp>
      <p:sp>
        <p:nvSpPr>
          <p:cNvPr id="6" name="Text 4"/>
          <p:cNvSpPr/>
          <p:nvPr/>
        </p:nvSpPr>
        <p:spPr>
          <a:xfrm>
            <a:off x="812800" y="3675410"/>
            <a:ext cx="3488233"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3"/>
                </a:solidFill>
                <a:latin typeface="IBM Plex Sans" pitchFamily="34" charset="0"/>
                <a:ea typeface="IBM Plex Sans" pitchFamily="34" charset="-122"/>
                <a:cs typeface="IBM Plex Sans" pitchFamily="34" charset="-120"/>
              </a:rPr>
              <a:t>Scripts idempotentes y verificadores objetivos</a:t>
            </a:r>
            <a:endParaRPr lang="en-US" sz="1400" dirty="0"/>
          </a:p>
        </p:txBody>
      </p:sp>
      <p:sp>
        <p:nvSpPr>
          <p:cNvPr id="7" name="Shape 5"/>
          <p:cNvSpPr/>
          <p:nvPr/>
        </p:nvSpPr>
        <p:spPr>
          <a:xfrm>
            <a:off x="4402634" y="3124250"/>
            <a:ext cx="3386683" cy="0"/>
          </a:xfrm>
          <a:prstGeom prst="line">
            <a:avLst/>
          </a:prstGeom>
          <a:noFill/>
          <a:ln w="25400">
            <a:solidFill>
              <a:srgbClr val="F0A070"/>
            </a:solidFill>
            <a:prstDash val="solid"/>
          </a:ln>
        </p:spPr>
      </p:sp>
      <p:sp>
        <p:nvSpPr>
          <p:cNvPr id="8" name="Text 6"/>
          <p:cNvSpPr/>
          <p:nvPr/>
        </p:nvSpPr>
        <p:spPr>
          <a:xfrm>
            <a:off x="4402634" y="3340150"/>
            <a:ext cx="348828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7F6F2"/>
                </a:solidFill>
                <a:latin typeface="IBM Plex Sans" pitchFamily="34" charset="0"/>
                <a:ea typeface="IBM Plex Sans" pitchFamily="34" charset="-122"/>
                <a:cs typeface="IBM Plex Sans" pitchFamily="34" charset="-120"/>
              </a:rPr>
              <a:t>Probar antes</a:t>
            </a:r>
            <a:endParaRPr lang="en-US" sz="1700" dirty="0"/>
          </a:p>
        </p:txBody>
      </p:sp>
      <p:sp>
        <p:nvSpPr>
          <p:cNvPr id="9" name="Text 7"/>
          <p:cNvSpPr/>
          <p:nvPr/>
        </p:nvSpPr>
        <p:spPr>
          <a:xfrm>
            <a:off x="4402634" y="3675410"/>
            <a:ext cx="348828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3"/>
                </a:solidFill>
                <a:latin typeface="IBM Plex Sans" pitchFamily="34" charset="0"/>
                <a:ea typeface="IBM Plex Sans" pitchFamily="34" charset="-122"/>
                <a:cs typeface="IBM Plex Sans" pitchFamily="34" charset="-120"/>
              </a:rPr>
              <a:t>nginx -t antes de reload, y leer cada [warn]</a:t>
            </a:r>
            <a:endParaRPr lang="en-US" sz="1400" dirty="0"/>
          </a:p>
        </p:txBody>
      </p:sp>
      <p:sp>
        <p:nvSpPr>
          <p:cNvPr id="10" name="Shape 8"/>
          <p:cNvSpPr/>
          <p:nvPr/>
        </p:nvSpPr>
        <p:spPr>
          <a:xfrm>
            <a:off x="7992517" y="3124250"/>
            <a:ext cx="3386683" cy="0"/>
          </a:xfrm>
          <a:prstGeom prst="line">
            <a:avLst/>
          </a:prstGeom>
          <a:noFill/>
          <a:ln w="25400">
            <a:solidFill>
              <a:srgbClr val="F0A070"/>
            </a:solidFill>
            <a:prstDash val="solid"/>
          </a:ln>
        </p:spPr>
      </p:sp>
      <p:sp>
        <p:nvSpPr>
          <p:cNvPr id="11" name="Text 9"/>
          <p:cNvSpPr/>
          <p:nvPr/>
        </p:nvSpPr>
        <p:spPr>
          <a:xfrm>
            <a:off x="7992517" y="3340150"/>
            <a:ext cx="348828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7F6F2"/>
                </a:solidFill>
                <a:latin typeface="IBM Plex Sans" pitchFamily="34" charset="0"/>
                <a:ea typeface="IBM Plex Sans" pitchFamily="34" charset="-122"/>
                <a:cs typeface="IBM Plex Sans" pitchFamily="34" charset="-120"/>
              </a:rPr>
              <a:t>Mínimo privilegio</a:t>
            </a:r>
            <a:endParaRPr lang="en-US" sz="1700" dirty="0"/>
          </a:p>
        </p:txBody>
      </p:sp>
      <p:sp>
        <p:nvSpPr>
          <p:cNvPr id="12" name="Text 10"/>
          <p:cNvSpPr/>
          <p:nvPr/>
        </p:nvSpPr>
        <p:spPr>
          <a:xfrm>
            <a:off x="7992517" y="3675410"/>
            <a:ext cx="348828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3"/>
                </a:solidFill>
                <a:latin typeface="IBM Plex Sans" pitchFamily="34" charset="0"/>
                <a:ea typeface="IBM Plex Sans" pitchFamily="34" charset="-122"/>
                <a:cs typeface="IBM Plex Sans" pitchFamily="34" charset="-120"/>
              </a:rPr>
              <a:t>www-data, código fuera de public/ y sesiones protegidas</a:t>
            </a:r>
            <a:endParaRPr lang="en-US" sz="1400" dirty="0"/>
          </a:p>
        </p:txBody>
      </p:sp>
      <p:sp>
        <p:nvSpPr>
          <p:cNvPr id="13" name="Text 11"/>
          <p:cNvSpPr/>
          <p:nvPr/>
        </p:nvSpPr>
        <p:spPr>
          <a:xfrm>
            <a:off x="812800" y="5796310"/>
            <a:ext cx="563272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0A070"/>
                </a:solidFill>
                <a:latin typeface="JetBrains Mono" pitchFamily="49" charset="0"/>
                <a:ea typeface="JetBrains Mono" pitchFamily="49" charset="-122"/>
                <a:cs typeface="JetBrains Mono" pitchFamily="49" charset="-120"/>
              </a:rPr>
              <a:t>github.com/Grupo-CodeX/tecnologia-web-i-labs</a:t>
            </a:r>
            <a:endParaRPr lang="en-US" sz="1400" dirty="0"/>
          </a:p>
        </p:txBody>
      </p:sp>
      <p:sp>
        <p:nvSpPr>
          <p:cNvPr id="14" name="Text 12"/>
          <p:cNvSpPr/>
          <p:nvPr/>
        </p:nvSpPr>
        <p:spPr>
          <a:xfrm>
            <a:off x="8018006" y="5654080"/>
            <a:ext cx="3361194" cy="416520"/>
          </a:xfrm>
          <a:prstGeom prst="rect">
            <a:avLst/>
          </a:prstGeom>
          <a:noFill/>
          <a:ln/>
        </p:spPr>
        <p:txBody>
          <a:bodyPr wrap="square" lIns="0" tIns="0" rIns="0" bIns="0" rtlCol="0" anchor="t">
            <a:normAutofit/>
          </a:bodyPr>
          <a:lstStyle/>
          <a:p>
            <a:pPr algn="r" indent="0" marL="0">
              <a:lnSpc>
                <a:spcPts val="3080"/>
              </a:lnSpc>
              <a:buNone/>
            </a:pPr>
            <a:r>
              <a:rPr lang="en-US" sz="2200" b="1" dirty="0">
                <a:solidFill>
                  <a:srgbClr val="F7F6F2"/>
                </a:solidFill>
                <a:latin typeface="IBM Plex Sans" pitchFamily="34" charset="0"/>
                <a:ea typeface="IBM Plex Sans" pitchFamily="34" charset="-122"/>
                <a:cs typeface="IBM Plex Sans" pitchFamily="34" charset="-120"/>
              </a:rPr>
              <a:t>Gracias · ¿Preguntas?</a:t>
            </a:r>
            <a:endParaRPr lang="en-US" sz="2200" dirty="0"/>
          </a:p>
        </p:txBody>
      </p:sp>
    </p:spTree>
  </p:cSld>
  <p:clrMapOvr>
    <a:masterClrMapping/>
  </p:clrMapOvr>
</p:sld>
</file>

<file path=ppt/theme/theme1.xml><?xml version="1.0" encoding="utf-8"?>
<a:theme xmlns:a="http://schemas.openxmlformats.org/drawingml/2006/main" name="Actividad 01 · Laboratorios Tecnología Web I">
  <a:themeElements>
    <a:clrScheme name="Actividad 01 · Laboratorios Tecnología Web I">
      <a:dk1>
        <a:srgbClr val="14213D"/>
      </a:dk1>
      <a:lt1>
        <a:srgbClr val="F7F6F2"/>
      </a:lt1>
      <a:dk2>
        <a:srgbClr val="4D566A"/>
      </a:dk2>
      <a:lt2>
        <a:srgbClr val="E0E1E0"/>
      </a:lt2>
      <a:accent1>
        <a:srgbClr val="B04E1C"/>
      </a:accent1>
      <a:accent2>
        <a:srgbClr val="F0A070"/>
      </a:accent2>
      <a:accent3>
        <a:srgbClr val="22325A"/>
      </a:accent3>
      <a:accent4>
        <a:srgbClr val="2F6FB0"/>
      </a:accent4>
      <a:accent5>
        <a:srgbClr val="8A3A12"/>
      </a:accent5>
      <a:accent6>
        <a:srgbClr val="4A5568"/>
      </a:accent6>
      <a:hlink>
        <a:srgbClr val="0563C1"/>
      </a:hlink>
      <a:folHlink>
        <a:srgbClr val="954F72"/>
      </a:folHlink>
    </a:clrScheme>
    <a:fontScheme name="Actividad 01 · Laboratorios Tecnología Web I">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Actividad 01 · Laboratorios Tecnología Web I</dc:title>
  <dc:subject/>
  <dc:creator/>
  <cp:lastModifiedBy/>
  <cp:revision>1</cp:revision>
  <dcterms:created xsi:type="dcterms:W3CDTF">2026-10-12T15:17:48Z</dcterms:created>
  <dcterms:modified xsi:type="dcterms:W3CDTF">2026-10-12T15:17:48Z</dcterms:modified>
</cp:coreProperties>
</file>